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280" r:id="rId24"/>
    <p:sldId id="281" r:id="rId25"/>
    <p:sldId id="282" r:id="rId26"/>
    <p:sldId id="278"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39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ogh N" initials="AN" lastIdx="1" clrIdx="0">
    <p:extLst>
      <p:ext uri="{19B8F6BF-5375-455C-9EA6-DF929625EA0E}">
        <p15:presenceInfo xmlns:p15="http://schemas.microsoft.com/office/powerpoint/2012/main" userId="109c17129014563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4660"/>
  </p:normalViewPr>
  <p:slideViewPr>
    <p:cSldViewPr snapToGrid="0">
      <p:cViewPr varScale="1">
        <p:scale>
          <a:sx n="122" d="100"/>
          <a:sy n="122" d="100"/>
        </p:scale>
        <p:origin x="96" y="378"/>
      </p:cViewPr>
      <p:guideLst>
        <p:guide pos="3840"/>
        <p:guide pos="39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14T21:22:42.344" idx="1">
    <p:pos x="3792" y="13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FDE86-B492-45CD-9BD0-DDFEC0F555F1}"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3DF7CC-4480-4C2E-B855-D6FFCAEABA30}" type="slidenum">
              <a:rPr lang="en-US" smtClean="0"/>
              <a:t>‹#›</a:t>
            </a:fld>
            <a:endParaRPr lang="en-US"/>
          </a:p>
        </p:txBody>
      </p:sp>
    </p:spTree>
    <p:extLst>
      <p:ext uri="{BB962C8B-B14F-4D97-AF65-F5344CB8AC3E}">
        <p14:creationId xmlns:p14="http://schemas.microsoft.com/office/powerpoint/2010/main" val="1396686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3DF7CC-4480-4C2E-B855-D6FFCAEABA30}" type="slidenum">
              <a:rPr lang="en-US" smtClean="0"/>
              <a:t>8</a:t>
            </a:fld>
            <a:endParaRPr lang="en-US"/>
          </a:p>
        </p:txBody>
      </p:sp>
    </p:spTree>
    <p:extLst>
      <p:ext uri="{BB962C8B-B14F-4D97-AF65-F5344CB8AC3E}">
        <p14:creationId xmlns:p14="http://schemas.microsoft.com/office/powerpoint/2010/main" val="2441507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C5A46E-C0DC-4AE0-AABC-73DA7B41D2C3}"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1304479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5A46E-C0DC-4AE0-AABC-73DA7B41D2C3}"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550172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5A46E-C0DC-4AE0-AABC-73DA7B41D2C3}"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2647139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C5A46E-C0DC-4AE0-AABC-73DA7B41D2C3}"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1304479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C5A46E-C0DC-4AE0-AABC-73DA7B41D2C3}"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367058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C5A46E-C0DC-4AE0-AABC-73DA7B41D2C3}"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96081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5A46E-C0DC-4AE0-AABC-73DA7B41D2C3}"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236616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C5A46E-C0DC-4AE0-AABC-73DA7B41D2C3}"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1533900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C5A46E-C0DC-4AE0-AABC-73DA7B41D2C3}"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2064487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5A46E-C0DC-4AE0-AABC-73DA7B41D2C3}"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1080143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5A46E-C0DC-4AE0-AABC-73DA7B41D2C3}"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38396-3BD0-4A40-9324-0387C6B569D8}" type="slidenum">
              <a:rPr lang="en-US" smtClean="0"/>
              <a:t>‹#›</a:t>
            </a:fld>
            <a:endParaRPr lang="en-US"/>
          </a:p>
        </p:txBody>
      </p:sp>
    </p:spTree>
    <p:extLst>
      <p:ext uri="{BB962C8B-B14F-4D97-AF65-F5344CB8AC3E}">
        <p14:creationId xmlns:p14="http://schemas.microsoft.com/office/powerpoint/2010/main" val="213513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C5A46E-C0DC-4AE0-AABC-73DA7B41D2C3}" type="datetimeFigureOut">
              <a:rPr lang="en-US" smtClean="0"/>
              <a:t>12/14/2025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E38396-3BD0-4A40-9324-0387C6B569D8}" type="slidenum">
              <a:rPr lang="en-US" smtClean="0"/>
              <a:t>‹#›</a:t>
            </a:fld>
            <a:endParaRPr lang="en-US"/>
          </a:p>
        </p:txBody>
      </p:sp>
    </p:spTree>
    <p:extLst>
      <p:ext uri="{BB962C8B-B14F-4D97-AF65-F5344CB8AC3E}">
        <p14:creationId xmlns:p14="http://schemas.microsoft.com/office/powerpoint/2010/main" val="26839927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5DEC-7241-BDD1-E484-BEFCBBD8794D}"/>
              </a:ext>
            </a:extLst>
          </p:cNvPr>
          <p:cNvSpPr>
            <a:spLocks noGrp="1"/>
          </p:cNvSpPr>
          <p:nvPr>
            <p:ph type="ctrTitle"/>
          </p:nvPr>
        </p:nvSpPr>
        <p:spPr/>
        <p:txBody>
          <a:bodyPr>
            <a:normAutofit/>
          </a:bodyPr>
          <a:lstStyle/>
          <a:p>
            <a:r>
              <a:rPr lang="en-US" sz="5400" b="1" dirty="0"/>
              <a:t>Byzantine Fault-Tolerant Intrusion Detection System</a:t>
            </a:r>
          </a:p>
        </p:txBody>
      </p:sp>
      <p:sp>
        <p:nvSpPr>
          <p:cNvPr id="4" name="Rectangle 1">
            <a:extLst>
              <a:ext uri="{FF2B5EF4-FFF2-40B4-BE49-F238E27FC236}">
                <a16:creationId xmlns:a16="http://schemas.microsoft.com/office/drawing/2014/main" id="{0D24CD5F-C2FF-FBC6-BC69-71A2F8366301}"/>
              </a:ext>
            </a:extLst>
          </p:cNvPr>
          <p:cNvSpPr>
            <a:spLocks noGrp="1" noChangeArrowheads="1"/>
          </p:cNvSpPr>
          <p:nvPr>
            <p:ph type="subTitle" idx="1"/>
          </p:nvPr>
        </p:nvSpPr>
        <p:spPr bwMode="auto">
          <a:xfrm>
            <a:off x="1512570" y="3552757"/>
            <a:ext cx="1042035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Amogh Nellutla</a:t>
            </a:r>
          </a:p>
          <a:p>
            <a:pPr marL="0" marR="0" lvl="0" indent="0" algn="l" defTabSz="914400" rtl="0" eaLnBrk="0" fontAlgn="base" latinLnBrk="0" hangingPunct="0">
              <a:lnSpc>
                <a:spcPct val="100000"/>
              </a:lnSpc>
              <a:spcBef>
                <a:spcPct val="0"/>
              </a:spcBef>
              <a:spcAft>
                <a:spcPct val="0"/>
              </a:spcAft>
              <a:buClrTx/>
              <a:buSzTx/>
              <a:tabLst/>
            </a:pPr>
            <a:r>
              <a:rPr lang="en-US" altLang="en-US" sz="1800" b="1" dirty="0">
                <a:latin typeface="Arial" panose="020B0604020202020204" pitchFamily="34" charset="0"/>
              </a:rPr>
              <a:t>                                                                             Montclair State University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Master of </a:t>
            </a:r>
            <a:r>
              <a:rPr lang="en-US" altLang="en-US" sz="1800" b="1" dirty="0">
                <a:latin typeface="Arial" panose="020B0604020202020204" pitchFamily="34" charset="0"/>
              </a:rPr>
              <a:t>S</a:t>
            </a:r>
            <a:r>
              <a:rPr kumimoji="0" lang="en-US" altLang="en-US" sz="1800" b="1" i="0" u="none" strike="noStrike" cap="none" normalizeH="0" baseline="0" dirty="0">
                <a:ln>
                  <a:noFill/>
                </a:ln>
                <a:solidFill>
                  <a:schemeClr val="tx1"/>
                </a:solidFill>
                <a:effectLst/>
                <a:latin typeface="Arial" panose="020B0604020202020204" pitchFamily="34" charset="0"/>
              </a:rPr>
              <a:t>cience: Cybersecurity</a:t>
            </a:r>
          </a:p>
          <a:p>
            <a:pPr marL="0" marR="0" lvl="0" indent="0" algn="l" defTabSz="914400" rtl="0" eaLnBrk="0" fontAlgn="base" latinLnBrk="0" hangingPunct="0">
              <a:lnSpc>
                <a:spcPct val="100000"/>
              </a:lnSpc>
              <a:spcBef>
                <a:spcPct val="0"/>
              </a:spcBef>
              <a:spcAft>
                <a:spcPct val="0"/>
              </a:spcAft>
              <a:buClrTx/>
              <a:buSzTx/>
              <a:tabLst/>
            </a:pPr>
            <a:r>
              <a:rPr lang="en-US" altLang="en-US" sz="1800" b="1" dirty="0">
                <a:latin typeface="Arial" panose="020B0604020202020204" pitchFamily="34" charset="0"/>
              </a:rPr>
              <a:t>                                                                            Advisor: Christopher Leberknight</a:t>
            </a:r>
            <a:r>
              <a:rPr kumimoji="0" lang="en-US" altLang="en-US" sz="1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889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9206-EB3D-728C-7CE8-66194BFDD6F3}"/>
              </a:ext>
            </a:extLst>
          </p:cNvPr>
          <p:cNvSpPr>
            <a:spLocks noGrp="1"/>
          </p:cNvSpPr>
          <p:nvPr>
            <p:ph type="title"/>
          </p:nvPr>
        </p:nvSpPr>
        <p:spPr/>
        <p:txBody>
          <a:bodyPr>
            <a:normAutofit/>
          </a:bodyPr>
          <a:lstStyle/>
          <a:p>
            <a:r>
              <a:rPr lang="en-US" b="1" dirty="0"/>
              <a:t>What If Your Security System Lies to You?</a:t>
            </a:r>
            <a:br>
              <a:rPr lang="en-US" b="1" dirty="0"/>
            </a:br>
            <a:endParaRPr lang="en-US" b="1" dirty="0"/>
          </a:p>
        </p:txBody>
      </p:sp>
      <p:sp>
        <p:nvSpPr>
          <p:cNvPr id="9" name="Text Placeholder 8">
            <a:extLst>
              <a:ext uri="{FF2B5EF4-FFF2-40B4-BE49-F238E27FC236}">
                <a16:creationId xmlns:a16="http://schemas.microsoft.com/office/drawing/2014/main" id="{08C9CDDD-A4CC-5109-287A-9BCF94B71730}"/>
              </a:ext>
            </a:extLst>
          </p:cNvPr>
          <p:cNvSpPr>
            <a:spLocks noGrp="1"/>
          </p:cNvSpPr>
          <p:nvPr>
            <p:ph type="body" idx="1"/>
          </p:nvPr>
        </p:nvSpPr>
        <p:spPr/>
        <p:txBody>
          <a:bodyPr>
            <a:normAutofit lnSpcReduction="10000"/>
          </a:bodyPr>
          <a:lstStyle/>
          <a:p>
            <a:endParaRPr lang="en-US" dirty="0"/>
          </a:p>
          <a:p>
            <a:r>
              <a:rPr lang="en-US" dirty="0"/>
              <a:t>Traditional IDS Design Assumptions</a:t>
            </a:r>
          </a:p>
          <a:p>
            <a:endParaRPr lang="en-US" dirty="0"/>
          </a:p>
        </p:txBody>
      </p:sp>
      <p:sp>
        <p:nvSpPr>
          <p:cNvPr id="8" name="Content Placeholder 7">
            <a:extLst>
              <a:ext uri="{FF2B5EF4-FFF2-40B4-BE49-F238E27FC236}">
                <a16:creationId xmlns:a16="http://schemas.microsoft.com/office/drawing/2014/main" id="{B9A1DF6A-5EBC-B846-EBD7-95FEDE212C86}"/>
              </a:ext>
            </a:extLst>
          </p:cNvPr>
          <p:cNvSpPr>
            <a:spLocks noGrp="1"/>
          </p:cNvSpPr>
          <p:nvPr>
            <p:ph sz="half" idx="2"/>
          </p:nvPr>
        </p:nvSpPr>
        <p:spPr>
          <a:xfrm>
            <a:off x="839788" y="2505074"/>
            <a:ext cx="5332412" cy="4352925"/>
          </a:xfrm>
        </p:spPr>
        <p:txBody>
          <a:bodyPr>
            <a:normAutofit fontScale="62500" lnSpcReduction="20000"/>
          </a:bodyPr>
          <a:lstStyle/>
          <a:p>
            <a:pPr>
              <a:buNone/>
            </a:pPr>
            <a:r>
              <a:rPr lang="en-US" sz="2900" b="1" dirty="0"/>
              <a:t>Assumption 1: The IDS Is Honest</a:t>
            </a:r>
            <a:endParaRPr lang="en-US" sz="2900" dirty="0"/>
          </a:p>
          <a:p>
            <a:pPr>
              <a:buFont typeface="Arial" panose="020B0604020202020204" pitchFamily="34" charset="0"/>
              <a:buChar char="•"/>
            </a:pPr>
            <a:r>
              <a:rPr lang="en-US" sz="2900" dirty="0"/>
              <a:t>IDS alerts are treated as ground truth</a:t>
            </a:r>
          </a:p>
          <a:p>
            <a:pPr>
              <a:buFont typeface="Arial" panose="020B0604020202020204" pitchFamily="34" charset="0"/>
              <a:buChar char="•"/>
            </a:pPr>
            <a:r>
              <a:rPr lang="en-US" sz="2900" dirty="0"/>
              <a:t>No mechanism to question or verify detector behavior</a:t>
            </a:r>
          </a:p>
          <a:p>
            <a:pPr>
              <a:buNone/>
            </a:pPr>
            <a:r>
              <a:rPr lang="en-US" sz="2900" b="1" dirty="0"/>
              <a:t>Assumption 2: Failures Are Accidental, Not Malicious</a:t>
            </a:r>
            <a:endParaRPr lang="en-US" sz="2900" dirty="0"/>
          </a:p>
          <a:p>
            <a:pPr>
              <a:buFont typeface="Arial" panose="020B0604020202020204" pitchFamily="34" charset="0"/>
              <a:buChar char="•"/>
            </a:pPr>
            <a:r>
              <a:rPr lang="en-US" sz="2900" dirty="0"/>
              <a:t>Traditional fault tolerance handles crashes</a:t>
            </a:r>
          </a:p>
          <a:p>
            <a:pPr>
              <a:buFont typeface="Arial" panose="020B0604020202020204" pitchFamily="34" charset="0"/>
              <a:buChar char="•"/>
            </a:pPr>
            <a:r>
              <a:rPr lang="en-US" sz="2900" dirty="0"/>
              <a:t>It does </a:t>
            </a:r>
            <a:r>
              <a:rPr lang="en-US" sz="2900" b="1" dirty="0"/>
              <a:t>not</a:t>
            </a:r>
            <a:r>
              <a:rPr lang="en-US" sz="2900" dirty="0"/>
              <a:t> handle intentional deception</a:t>
            </a:r>
          </a:p>
          <a:p>
            <a:pPr>
              <a:buNone/>
            </a:pPr>
            <a:r>
              <a:rPr lang="en-US" sz="2900" b="1" dirty="0"/>
              <a:t>Assumption 3: One Detector Is Enough</a:t>
            </a:r>
            <a:endParaRPr lang="en-US" sz="2900" dirty="0"/>
          </a:p>
          <a:p>
            <a:pPr>
              <a:buFont typeface="Arial" panose="020B0604020202020204" pitchFamily="34" charset="0"/>
              <a:buChar char="•"/>
            </a:pPr>
            <a:r>
              <a:rPr lang="en-US" sz="2900" dirty="0"/>
              <a:t>Centralized or single-decision IDS architectures</a:t>
            </a:r>
          </a:p>
          <a:p>
            <a:pPr>
              <a:buFont typeface="Arial" panose="020B0604020202020204" pitchFamily="34" charset="0"/>
              <a:buChar char="•"/>
            </a:pPr>
            <a:r>
              <a:rPr lang="en-US" sz="2900" dirty="0"/>
              <a:t>Creates a </a:t>
            </a:r>
            <a:r>
              <a:rPr lang="en-US" sz="2900" b="1" dirty="0"/>
              <a:t>single point of trust</a:t>
            </a:r>
            <a:endParaRPr lang="en-US" sz="2900" dirty="0"/>
          </a:p>
          <a:p>
            <a:endParaRPr lang="en-US" sz="1600" dirty="0"/>
          </a:p>
        </p:txBody>
      </p:sp>
      <p:sp>
        <p:nvSpPr>
          <p:cNvPr id="10" name="Text Placeholder 9">
            <a:extLst>
              <a:ext uri="{FF2B5EF4-FFF2-40B4-BE49-F238E27FC236}">
                <a16:creationId xmlns:a16="http://schemas.microsoft.com/office/drawing/2014/main" id="{923FA873-DA63-13D0-0E69-EC059288E607}"/>
              </a:ext>
            </a:extLst>
          </p:cNvPr>
          <p:cNvSpPr>
            <a:spLocks noGrp="1"/>
          </p:cNvSpPr>
          <p:nvPr>
            <p:ph type="body" sz="quarter" idx="3"/>
          </p:nvPr>
        </p:nvSpPr>
        <p:spPr>
          <a:xfrm>
            <a:off x="6172200" y="1681163"/>
            <a:ext cx="5183188" cy="483699"/>
          </a:xfrm>
        </p:spPr>
        <p:txBody>
          <a:bodyPr>
            <a:normAutofit lnSpcReduction="10000"/>
          </a:bodyPr>
          <a:lstStyle/>
          <a:p>
            <a:r>
              <a:rPr lang="en-US" dirty="0"/>
              <a:t>Why These Assumptions Fail</a:t>
            </a:r>
          </a:p>
        </p:txBody>
      </p:sp>
      <p:sp>
        <p:nvSpPr>
          <p:cNvPr id="11" name="Content Placeholder 10">
            <a:extLst>
              <a:ext uri="{FF2B5EF4-FFF2-40B4-BE49-F238E27FC236}">
                <a16:creationId xmlns:a16="http://schemas.microsoft.com/office/drawing/2014/main" id="{8F199D1D-0945-9EBF-DAD5-68E65088145D}"/>
              </a:ext>
            </a:extLst>
          </p:cNvPr>
          <p:cNvSpPr>
            <a:spLocks noGrp="1"/>
          </p:cNvSpPr>
          <p:nvPr>
            <p:ph sz="quarter" idx="4"/>
          </p:nvPr>
        </p:nvSpPr>
        <p:spPr>
          <a:xfrm>
            <a:off x="6172200" y="2505074"/>
            <a:ext cx="5481918" cy="4352925"/>
          </a:xfrm>
        </p:spPr>
        <p:txBody>
          <a:bodyPr>
            <a:normAutofit fontScale="62500" lnSpcReduction="20000"/>
          </a:bodyPr>
          <a:lstStyle/>
          <a:p>
            <a:pPr>
              <a:buNone/>
            </a:pPr>
            <a:r>
              <a:rPr lang="en-US" sz="2900" b="1" dirty="0"/>
              <a:t>Single Point of Failure</a:t>
            </a:r>
            <a:endParaRPr lang="en-US" sz="2900" dirty="0"/>
          </a:p>
          <a:p>
            <a:pPr>
              <a:buFont typeface="Arial" panose="020B0604020202020204" pitchFamily="34" charset="0"/>
              <a:buChar char="•"/>
            </a:pPr>
            <a:r>
              <a:rPr lang="en-US" sz="2900" dirty="0"/>
              <a:t>If the IDS is compromised, the entire network becomes blind</a:t>
            </a:r>
          </a:p>
          <a:p>
            <a:pPr>
              <a:buNone/>
            </a:pPr>
            <a:r>
              <a:rPr lang="en-US" sz="2900" b="1" dirty="0"/>
              <a:t>No Cross-Verification</a:t>
            </a:r>
            <a:endParaRPr lang="en-US" sz="2900" dirty="0"/>
          </a:p>
          <a:p>
            <a:pPr>
              <a:buFont typeface="Arial" panose="020B0604020202020204" pitchFamily="34" charset="0"/>
              <a:buChar char="•"/>
            </a:pPr>
            <a:r>
              <a:rPr lang="en-US" sz="2900" dirty="0"/>
              <a:t>Alerts are not validated against independent detectors</a:t>
            </a:r>
          </a:p>
          <a:p>
            <a:pPr>
              <a:buFont typeface="Arial" panose="020B0604020202020204" pitchFamily="34" charset="0"/>
              <a:buChar char="•"/>
            </a:pPr>
            <a:r>
              <a:rPr lang="en-US" sz="2900" dirty="0"/>
              <a:t>No majority or consensus logic</a:t>
            </a:r>
          </a:p>
          <a:p>
            <a:pPr>
              <a:buNone/>
            </a:pPr>
            <a:r>
              <a:rPr lang="en-US" sz="2900" b="1" dirty="0"/>
              <a:t>Trust Is Assumed, Not Proven</a:t>
            </a:r>
            <a:endParaRPr lang="en-US" sz="2900" dirty="0"/>
          </a:p>
          <a:p>
            <a:pPr>
              <a:buFont typeface="Arial" panose="020B0604020202020204" pitchFamily="34" charset="0"/>
              <a:buChar char="•"/>
            </a:pPr>
            <a:r>
              <a:rPr lang="en-US" sz="2900" dirty="0"/>
              <a:t>IDS trusts its own output</a:t>
            </a:r>
          </a:p>
          <a:p>
            <a:pPr>
              <a:buFont typeface="Arial" panose="020B0604020202020204" pitchFamily="34" charset="0"/>
              <a:buChar char="•"/>
            </a:pPr>
            <a:r>
              <a:rPr lang="en-US" sz="2900" dirty="0"/>
              <a:t>Attackers exploit this implicit trust</a:t>
            </a:r>
          </a:p>
          <a:p>
            <a:pPr>
              <a:buNone/>
            </a:pPr>
            <a:r>
              <a:rPr lang="en-US" sz="2900" b="1" dirty="0"/>
              <a:t>One Lying Node = System Failure</a:t>
            </a:r>
            <a:endParaRPr lang="en-US" sz="2900" dirty="0"/>
          </a:p>
          <a:p>
            <a:pPr>
              <a:buFont typeface="Arial" panose="020B0604020202020204" pitchFamily="34" charset="0"/>
              <a:buChar char="•"/>
            </a:pPr>
            <a:r>
              <a:rPr lang="en-US" sz="2900" dirty="0"/>
              <a:t>A malicious detector can:</a:t>
            </a:r>
          </a:p>
          <a:p>
            <a:pPr marL="742950" lvl="1" indent="-285750">
              <a:buFont typeface="Arial" panose="020B0604020202020204" pitchFamily="34" charset="0"/>
              <a:buChar char="•"/>
            </a:pPr>
            <a:r>
              <a:rPr lang="en-US" sz="2900" dirty="0"/>
              <a:t>Hide real attacks (false negatives)</a:t>
            </a:r>
          </a:p>
          <a:p>
            <a:pPr marL="742950" lvl="1" indent="-285750">
              <a:buFont typeface="Arial" panose="020B0604020202020204" pitchFamily="34" charset="0"/>
              <a:buChar char="•"/>
            </a:pPr>
            <a:r>
              <a:rPr lang="en-US" sz="2900" dirty="0"/>
              <a:t>Generate fake alerts (false positives)</a:t>
            </a:r>
          </a:p>
          <a:p>
            <a:pPr marL="742950" lvl="1" indent="-285750">
              <a:buFont typeface="Arial" panose="020B0604020202020204" pitchFamily="34" charset="0"/>
              <a:buChar char="•"/>
            </a:pPr>
            <a:r>
              <a:rPr lang="en-US" sz="2900" dirty="0"/>
              <a:t>Mislead incident response teams</a:t>
            </a:r>
          </a:p>
          <a:p>
            <a:endParaRPr lang="en-US" sz="1200" dirty="0"/>
          </a:p>
        </p:txBody>
      </p:sp>
    </p:spTree>
    <p:extLst>
      <p:ext uri="{BB962C8B-B14F-4D97-AF65-F5344CB8AC3E}">
        <p14:creationId xmlns:p14="http://schemas.microsoft.com/office/powerpoint/2010/main" val="1515725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98E8B-BE53-2343-6CB3-742C6CBBBBEE}"/>
              </a:ext>
            </a:extLst>
          </p:cNvPr>
          <p:cNvSpPr>
            <a:spLocks noGrp="1"/>
          </p:cNvSpPr>
          <p:nvPr>
            <p:ph type="title"/>
          </p:nvPr>
        </p:nvSpPr>
        <p:spPr/>
        <p:txBody>
          <a:bodyPr/>
          <a:lstStyle/>
          <a:p>
            <a:r>
              <a:rPr lang="en-US" dirty="0"/>
              <a:t>REAL-WORLD FAILURE OF TRUSTED SECURITY SYSTEMS</a:t>
            </a:r>
          </a:p>
        </p:txBody>
      </p:sp>
      <p:sp>
        <p:nvSpPr>
          <p:cNvPr id="3" name="Text Placeholder 2">
            <a:extLst>
              <a:ext uri="{FF2B5EF4-FFF2-40B4-BE49-F238E27FC236}">
                <a16:creationId xmlns:a16="http://schemas.microsoft.com/office/drawing/2014/main" id="{732C8F88-947F-83E3-8633-DC82D3B099A2}"/>
              </a:ext>
            </a:extLst>
          </p:cNvPr>
          <p:cNvSpPr>
            <a:spLocks noGrp="1"/>
          </p:cNvSpPr>
          <p:nvPr>
            <p:ph type="body" idx="1"/>
          </p:nvPr>
        </p:nvSpPr>
        <p:spPr/>
        <p:txBody>
          <a:bodyPr/>
          <a:lstStyle/>
          <a:p>
            <a:r>
              <a:rPr lang="en-US" dirty="0"/>
              <a:t>Documented Security Failures</a:t>
            </a:r>
          </a:p>
        </p:txBody>
      </p:sp>
      <p:sp>
        <p:nvSpPr>
          <p:cNvPr id="4" name="Content Placeholder 3">
            <a:extLst>
              <a:ext uri="{FF2B5EF4-FFF2-40B4-BE49-F238E27FC236}">
                <a16:creationId xmlns:a16="http://schemas.microsoft.com/office/drawing/2014/main" id="{13D9D643-D352-19D3-CA6D-23E41502FE66}"/>
              </a:ext>
            </a:extLst>
          </p:cNvPr>
          <p:cNvSpPr>
            <a:spLocks noGrp="1"/>
          </p:cNvSpPr>
          <p:nvPr>
            <p:ph sz="half" idx="2"/>
          </p:nvPr>
        </p:nvSpPr>
        <p:spPr>
          <a:xfrm>
            <a:off x="839788" y="2505074"/>
            <a:ext cx="5180013" cy="4227195"/>
          </a:xfrm>
        </p:spPr>
        <p:txBody>
          <a:bodyPr>
            <a:normAutofit fontScale="70000" lnSpcReduction="20000"/>
          </a:bodyPr>
          <a:lstStyle/>
          <a:p>
            <a:pPr>
              <a:buNone/>
            </a:pPr>
            <a:r>
              <a:rPr lang="en-US" sz="2300" b="1" dirty="0"/>
              <a:t>SolarWinds Supply-Chain Attack (2020)</a:t>
            </a:r>
          </a:p>
          <a:p>
            <a:pPr>
              <a:buFont typeface="Arial" panose="020B0604020202020204" pitchFamily="34" charset="0"/>
              <a:buChar char="•"/>
            </a:pPr>
            <a:r>
              <a:rPr lang="en-US" sz="2300" dirty="0"/>
              <a:t>Monitoring and update mechanisms were compromised</a:t>
            </a:r>
          </a:p>
          <a:p>
            <a:pPr>
              <a:buFont typeface="Arial" panose="020B0604020202020204" pitchFamily="34" charset="0"/>
              <a:buChar char="•"/>
            </a:pPr>
            <a:r>
              <a:rPr lang="en-US" sz="2300" dirty="0"/>
              <a:t>Malicious code distributed through </a:t>
            </a:r>
            <a:r>
              <a:rPr lang="en-US" sz="2300" b="1" dirty="0"/>
              <a:t>trusted software updates</a:t>
            </a:r>
            <a:endParaRPr lang="en-US" sz="2300" dirty="0"/>
          </a:p>
          <a:p>
            <a:pPr>
              <a:buFont typeface="Arial" panose="020B0604020202020204" pitchFamily="34" charset="0"/>
              <a:buChar char="•"/>
            </a:pPr>
            <a:r>
              <a:rPr lang="en-US" sz="2300" dirty="0"/>
              <a:t>Intrusions remained undetected for </a:t>
            </a:r>
            <a:r>
              <a:rPr lang="en-US" sz="2300" b="1" dirty="0"/>
              <a:t>approximately 9 months</a:t>
            </a:r>
            <a:endParaRPr lang="en-US" sz="2300" dirty="0"/>
          </a:p>
          <a:p>
            <a:pPr>
              <a:buFont typeface="Arial" panose="020B0604020202020204" pitchFamily="34" charset="0"/>
              <a:buChar char="•"/>
            </a:pPr>
            <a:r>
              <a:rPr lang="en-US" sz="2300" dirty="0"/>
              <a:t>Security tools </a:t>
            </a:r>
            <a:r>
              <a:rPr lang="en-US" sz="2300" b="1" dirty="0"/>
              <a:t>actively reported normal operation while attackers were present</a:t>
            </a:r>
            <a:endParaRPr lang="en-US" sz="2300" dirty="0"/>
          </a:p>
          <a:p>
            <a:pPr>
              <a:buNone/>
            </a:pPr>
            <a:r>
              <a:rPr lang="en-US" sz="2300" b="1" dirty="0"/>
              <a:t>Target Data Breach (2013)</a:t>
            </a:r>
          </a:p>
          <a:p>
            <a:pPr>
              <a:buFont typeface="Arial" panose="020B0604020202020204" pitchFamily="34" charset="0"/>
              <a:buChar char="•"/>
            </a:pPr>
            <a:r>
              <a:rPr lang="en-US" sz="2300" dirty="0"/>
              <a:t>Malware installed inside internal systems</a:t>
            </a:r>
          </a:p>
          <a:p>
            <a:pPr>
              <a:buFont typeface="Arial" panose="020B0604020202020204" pitchFamily="34" charset="0"/>
              <a:buChar char="•"/>
            </a:pPr>
            <a:r>
              <a:rPr lang="en-US" sz="2300" dirty="0"/>
              <a:t>Security alerts were generated but </a:t>
            </a:r>
            <a:r>
              <a:rPr lang="en-US" sz="2300" b="1" dirty="0"/>
              <a:t>not trusted or correctly interpreted</a:t>
            </a:r>
            <a:endParaRPr lang="en-US" sz="2300" dirty="0"/>
          </a:p>
          <a:p>
            <a:pPr>
              <a:buFont typeface="Arial" panose="020B0604020202020204" pitchFamily="34" charset="0"/>
              <a:buChar char="•"/>
            </a:pPr>
            <a:r>
              <a:rPr lang="en-US" sz="2300" dirty="0"/>
              <a:t>Resulted in </a:t>
            </a:r>
            <a:r>
              <a:rPr lang="en-US" sz="2300" b="1" dirty="0"/>
              <a:t>70 million customer records stolen</a:t>
            </a:r>
            <a:endParaRPr lang="en-US" sz="2300" dirty="0"/>
          </a:p>
          <a:p>
            <a:pPr>
              <a:buFont typeface="Arial" panose="020B0604020202020204" pitchFamily="34" charset="0"/>
              <a:buChar char="•"/>
            </a:pPr>
            <a:r>
              <a:rPr lang="en-US" sz="2300" dirty="0"/>
              <a:t>Failure was not absence of detection, but </a:t>
            </a:r>
            <a:r>
              <a:rPr lang="en-US" sz="2300" b="1" dirty="0"/>
              <a:t>failure of trust in detection</a:t>
            </a:r>
            <a:endParaRPr lang="en-US" sz="2300" dirty="0"/>
          </a:p>
          <a:p>
            <a:endParaRPr lang="en-US" sz="1400" dirty="0"/>
          </a:p>
        </p:txBody>
      </p:sp>
      <p:sp>
        <p:nvSpPr>
          <p:cNvPr id="5" name="Text Placeholder 4">
            <a:extLst>
              <a:ext uri="{FF2B5EF4-FFF2-40B4-BE49-F238E27FC236}">
                <a16:creationId xmlns:a16="http://schemas.microsoft.com/office/drawing/2014/main" id="{2269FD45-A7D5-A43A-0DC5-0A60B18352E0}"/>
              </a:ext>
            </a:extLst>
          </p:cNvPr>
          <p:cNvSpPr>
            <a:spLocks noGrp="1"/>
          </p:cNvSpPr>
          <p:nvPr>
            <p:ph type="body" sz="quarter" idx="3"/>
          </p:nvPr>
        </p:nvSpPr>
        <p:spPr/>
        <p:txBody>
          <a:bodyPr/>
          <a:lstStyle/>
          <a:p>
            <a:r>
              <a:rPr lang="en-US" dirty="0"/>
              <a:t>Modern Network Reality</a:t>
            </a:r>
          </a:p>
        </p:txBody>
      </p:sp>
      <p:sp>
        <p:nvSpPr>
          <p:cNvPr id="6" name="Content Placeholder 5">
            <a:extLst>
              <a:ext uri="{FF2B5EF4-FFF2-40B4-BE49-F238E27FC236}">
                <a16:creationId xmlns:a16="http://schemas.microsoft.com/office/drawing/2014/main" id="{43FB6362-E890-306C-CB71-EAE8FE5BE25C}"/>
              </a:ext>
            </a:extLst>
          </p:cNvPr>
          <p:cNvSpPr>
            <a:spLocks noGrp="1"/>
          </p:cNvSpPr>
          <p:nvPr>
            <p:ph sz="quarter" idx="4"/>
          </p:nvPr>
        </p:nvSpPr>
        <p:spPr>
          <a:xfrm>
            <a:off x="6194426" y="2505075"/>
            <a:ext cx="5160962" cy="4227194"/>
          </a:xfrm>
        </p:spPr>
        <p:txBody>
          <a:bodyPr>
            <a:normAutofit fontScale="70000" lnSpcReduction="20000"/>
          </a:bodyPr>
          <a:lstStyle/>
          <a:p>
            <a:pPr>
              <a:buNone/>
            </a:pPr>
            <a:r>
              <a:rPr lang="en-US" b="1" dirty="0"/>
              <a:t>Today’s Enterprise Networks</a:t>
            </a:r>
          </a:p>
          <a:p>
            <a:pPr>
              <a:buFont typeface="Arial" panose="020B0604020202020204" pitchFamily="34" charset="0"/>
              <a:buChar char="•"/>
            </a:pPr>
            <a:r>
              <a:rPr lang="en-US" dirty="0"/>
              <a:t>Distributed and decentralized</a:t>
            </a:r>
          </a:p>
          <a:p>
            <a:pPr>
              <a:buFont typeface="Arial" panose="020B0604020202020204" pitchFamily="34" charset="0"/>
              <a:buChar char="•"/>
            </a:pPr>
            <a:r>
              <a:rPr lang="en-US" dirty="0"/>
              <a:t>Cloud-based and hybrid</a:t>
            </a:r>
          </a:p>
          <a:p>
            <a:pPr>
              <a:buFont typeface="Arial" panose="020B0604020202020204" pitchFamily="34" charset="0"/>
              <a:buChar char="•"/>
            </a:pPr>
            <a:r>
              <a:rPr lang="en-US" dirty="0"/>
              <a:t>IoT and edge-device heavy</a:t>
            </a:r>
          </a:p>
          <a:p>
            <a:pPr>
              <a:buFont typeface="Arial" panose="020B0604020202020204" pitchFamily="34" charset="0"/>
              <a:buChar char="•"/>
            </a:pPr>
            <a:r>
              <a:rPr lang="en-US" dirty="0"/>
              <a:t>Composed of heterogeneous trust domains</a:t>
            </a:r>
          </a:p>
          <a:p>
            <a:pPr>
              <a:buNone/>
            </a:pPr>
            <a:r>
              <a:rPr lang="en-US" b="1" dirty="0"/>
              <a:t>Modern Adversary Strategy</a:t>
            </a:r>
          </a:p>
          <a:p>
            <a:pPr>
              <a:buFont typeface="Arial" panose="020B0604020202020204" pitchFamily="34" charset="0"/>
              <a:buChar char="•"/>
            </a:pPr>
            <a:r>
              <a:rPr lang="en-US" dirty="0"/>
              <a:t>Attackers no longer only target services</a:t>
            </a:r>
          </a:p>
          <a:p>
            <a:pPr>
              <a:buFont typeface="Arial" panose="020B0604020202020204" pitchFamily="34" charset="0"/>
              <a:buChar char="•"/>
            </a:pPr>
            <a:r>
              <a:rPr lang="en-US" dirty="0"/>
              <a:t>They increasingly target:</a:t>
            </a:r>
          </a:p>
          <a:p>
            <a:pPr marL="742950" lvl="1" indent="-285750">
              <a:buFont typeface="Arial" panose="020B0604020202020204" pitchFamily="34" charset="0"/>
              <a:buChar char="•"/>
            </a:pPr>
            <a:r>
              <a:rPr lang="en-US" dirty="0"/>
              <a:t>Monitoring systems</a:t>
            </a:r>
          </a:p>
          <a:p>
            <a:pPr marL="742950" lvl="1" indent="-285750">
              <a:buFont typeface="Arial" panose="020B0604020202020204" pitchFamily="34" charset="0"/>
              <a:buChar char="•"/>
            </a:pPr>
            <a:r>
              <a:rPr lang="en-US" dirty="0"/>
              <a:t>Logging pipelines</a:t>
            </a:r>
          </a:p>
          <a:p>
            <a:pPr marL="742950" lvl="1" indent="-285750">
              <a:buFont typeface="Arial" panose="020B0604020202020204" pitchFamily="34" charset="0"/>
              <a:buChar char="•"/>
            </a:pPr>
            <a:r>
              <a:rPr lang="en-US" dirty="0"/>
              <a:t>Detection infrastructure</a:t>
            </a:r>
          </a:p>
          <a:p>
            <a:pPr>
              <a:buFont typeface="Arial" panose="020B0604020202020204" pitchFamily="34" charset="0"/>
              <a:buChar char="•"/>
            </a:pPr>
            <a:r>
              <a:rPr lang="en-US" dirty="0"/>
              <a:t>Goal: </a:t>
            </a:r>
            <a:r>
              <a:rPr lang="en-US" b="1" dirty="0"/>
              <a:t>control what defenders believe</a:t>
            </a:r>
            <a:endParaRPr lang="en-US" dirty="0"/>
          </a:p>
          <a:p>
            <a:endParaRPr lang="en-US" sz="1400" dirty="0"/>
          </a:p>
        </p:txBody>
      </p:sp>
    </p:spTree>
    <p:extLst>
      <p:ext uri="{BB962C8B-B14F-4D97-AF65-F5344CB8AC3E}">
        <p14:creationId xmlns:p14="http://schemas.microsoft.com/office/powerpoint/2010/main" val="335987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48E69E1-EBCD-3C16-5317-9DB2123A3083}"/>
              </a:ext>
            </a:extLst>
          </p:cNvPr>
          <p:cNvSpPr>
            <a:spLocks noGrp="1"/>
          </p:cNvSpPr>
          <p:nvPr>
            <p:ph type="title"/>
          </p:nvPr>
        </p:nvSpPr>
        <p:spPr/>
        <p:txBody>
          <a:bodyPr/>
          <a:lstStyle/>
          <a:p>
            <a:r>
              <a:rPr lang="en-US" b="1" dirty="0"/>
              <a:t>                   RESEARCH QUESTIONS</a:t>
            </a:r>
          </a:p>
        </p:txBody>
      </p:sp>
      <p:sp>
        <p:nvSpPr>
          <p:cNvPr id="8" name="Content Placeholder 7">
            <a:extLst>
              <a:ext uri="{FF2B5EF4-FFF2-40B4-BE49-F238E27FC236}">
                <a16:creationId xmlns:a16="http://schemas.microsoft.com/office/drawing/2014/main" id="{05849955-2A9C-3F1E-FBB0-0DDC4973C142}"/>
              </a:ext>
            </a:extLst>
          </p:cNvPr>
          <p:cNvSpPr>
            <a:spLocks noGrp="1"/>
          </p:cNvSpPr>
          <p:nvPr>
            <p:ph idx="1"/>
          </p:nvPr>
        </p:nvSpPr>
        <p:spPr/>
        <p:txBody>
          <a:bodyPr>
            <a:normAutofit/>
          </a:bodyPr>
          <a:lstStyle/>
          <a:p>
            <a:r>
              <a:rPr lang="en-US" sz="2400" b="1" dirty="0"/>
              <a:t>RQ1:</a:t>
            </a:r>
            <a:br>
              <a:rPr lang="en-US" sz="2400" dirty="0"/>
            </a:br>
            <a:r>
              <a:rPr lang="en-US" sz="2400" dirty="0"/>
              <a:t>Can a distributed Intrusion Detection System maintain correct attack detection and decision-making, when one of its detection nodes behaves maliciously (Byzantine behavior)?</a:t>
            </a:r>
          </a:p>
          <a:p>
            <a:r>
              <a:rPr lang="en-US" sz="2400" b="1" dirty="0"/>
              <a:t>RQ2:</a:t>
            </a:r>
            <a:br>
              <a:rPr lang="en-US" sz="2400" dirty="0"/>
            </a:br>
            <a:r>
              <a:rPr lang="en-US" sz="2400" dirty="0"/>
              <a:t>Can majority-based consensus among independent IDS nodes override false positives and false negatives introduced by a Byzantine detector</a:t>
            </a:r>
            <a:r>
              <a:rPr lang="en-US" sz="2400" b="1" dirty="0"/>
              <a:t>?</a:t>
            </a:r>
          </a:p>
          <a:p>
            <a:r>
              <a:rPr lang="en-US" sz="2400" b="1" dirty="0"/>
              <a:t>RQ3:</a:t>
            </a:r>
            <a:br>
              <a:rPr lang="en-US" sz="2400" dirty="0"/>
            </a:br>
            <a:r>
              <a:rPr lang="en-US" sz="2400" dirty="0"/>
              <a:t>Does the system consistently reach correct consensus decisions across multiple attack types and repeated attack instances, despite intermittent Byzantine behavior?</a:t>
            </a:r>
          </a:p>
        </p:txBody>
      </p:sp>
    </p:spTree>
    <p:extLst>
      <p:ext uri="{BB962C8B-B14F-4D97-AF65-F5344CB8AC3E}">
        <p14:creationId xmlns:p14="http://schemas.microsoft.com/office/powerpoint/2010/main" val="2718693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6A48-178C-8F0F-9EF3-CF2CA6BB344A}"/>
              </a:ext>
            </a:extLst>
          </p:cNvPr>
          <p:cNvSpPr>
            <a:spLocks noGrp="1"/>
          </p:cNvSpPr>
          <p:nvPr>
            <p:ph type="title"/>
          </p:nvPr>
        </p:nvSpPr>
        <p:spPr/>
        <p:txBody>
          <a:bodyPr/>
          <a:lstStyle/>
          <a:p>
            <a:r>
              <a:rPr lang="en-US" b="1" dirty="0"/>
              <a:t>        The Byzantine Generals Problem</a:t>
            </a:r>
          </a:p>
        </p:txBody>
      </p:sp>
      <p:sp>
        <p:nvSpPr>
          <p:cNvPr id="4" name="Text Placeholder 3">
            <a:extLst>
              <a:ext uri="{FF2B5EF4-FFF2-40B4-BE49-F238E27FC236}">
                <a16:creationId xmlns:a16="http://schemas.microsoft.com/office/drawing/2014/main" id="{E270FF07-742D-4A91-8ED1-7A3F8EFF945E}"/>
              </a:ext>
            </a:extLst>
          </p:cNvPr>
          <p:cNvSpPr>
            <a:spLocks noGrp="1"/>
          </p:cNvSpPr>
          <p:nvPr>
            <p:ph type="body" idx="1"/>
          </p:nvPr>
        </p:nvSpPr>
        <p:spPr>
          <a:xfrm>
            <a:off x="839788" y="1586523"/>
            <a:ext cx="5157787" cy="586154"/>
          </a:xfrm>
        </p:spPr>
        <p:txBody>
          <a:bodyPr/>
          <a:lstStyle/>
          <a:p>
            <a:r>
              <a:rPr lang="en-US" dirty="0"/>
              <a:t>What is the Byzantine Problem?</a:t>
            </a:r>
          </a:p>
        </p:txBody>
      </p:sp>
      <p:sp>
        <p:nvSpPr>
          <p:cNvPr id="5" name="Content Placeholder 4">
            <a:extLst>
              <a:ext uri="{FF2B5EF4-FFF2-40B4-BE49-F238E27FC236}">
                <a16:creationId xmlns:a16="http://schemas.microsoft.com/office/drawing/2014/main" id="{52905137-D9AC-30C1-017F-D03E287D3247}"/>
              </a:ext>
            </a:extLst>
          </p:cNvPr>
          <p:cNvSpPr>
            <a:spLocks noGrp="1"/>
          </p:cNvSpPr>
          <p:nvPr>
            <p:ph sz="half" idx="2"/>
          </p:nvPr>
        </p:nvSpPr>
        <p:spPr>
          <a:xfrm>
            <a:off x="839788" y="2172677"/>
            <a:ext cx="5157787" cy="4016986"/>
          </a:xfrm>
        </p:spPr>
        <p:txBody>
          <a:bodyPr>
            <a:normAutofit/>
          </a:bodyPr>
          <a:lstStyle/>
          <a:p>
            <a:r>
              <a:rPr lang="en-US" sz="1400" dirty="0"/>
              <a:t>Imagine a scenario where several Byzantine generals surround an enemy city, each commanding their own army division. To succeed, they must coordinate their attack - either all attack together or all retreat together. The generals can only communicate through messengers, but here's the critical challenge: some generals might be traitors who will deliberately send conflicting messages to different generals, trying to sabotage the coordinated action. How can the loyal generals ensure they reach the same decision despite the presence of these traitors?</a:t>
            </a:r>
          </a:p>
          <a:p>
            <a:r>
              <a:rPr lang="en-US" sz="1400" b="1" dirty="0"/>
              <a:t>Nodes may: </a:t>
            </a:r>
          </a:p>
          <a:p>
            <a:r>
              <a:rPr lang="en-US" sz="1200" dirty="0"/>
              <a:t>Send false information</a:t>
            </a:r>
          </a:p>
          <a:p>
            <a:r>
              <a:rPr lang="en-US" sz="1200" dirty="0"/>
              <a:t>Send different messages to different nodes</a:t>
            </a:r>
          </a:p>
          <a:p>
            <a:r>
              <a:rPr lang="en-US" sz="1200" dirty="0"/>
              <a:t>Act maliciously, not just crash or go offline</a:t>
            </a:r>
          </a:p>
          <a:p>
            <a:r>
              <a:rPr lang="en-US" sz="1200" dirty="0"/>
              <a:t>Failures are arbitrary and unpredictable</a:t>
            </a:r>
          </a:p>
          <a:p>
            <a:r>
              <a:rPr lang="en-US" sz="1200" dirty="0"/>
              <a:t>Trust cannot be assumed</a:t>
            </a:r>
          </a:p>
        </p:txBody>
      </p:sp>
      <p:sp>
        <p:nvSpPr>
          <p:cNvPr id="6" name="Text Placeholder 5">
            <a:extLst>
              <a:ext uri="{FF2B5EF4-FFF2-40B4-BE49-F238E27FC236}">
                <a16:creationId xmlns:a16="http://schemas.microsoft.com/office/drawing/2014/main" id="{6A56C4EE-1554-03A2-F27C-6CF5A302F156}"/>
              </a:ext>
            </a:extLst>
          </p:cNvPr>
          <p:cNvSpPr>
            <a:spLocks noGrp="1"/>
          </p:cNvSpPr>
          <p:nvPr>
            <p:ph type="body" sz="quarter" idx="3"/>
          </p:nvPr>
        </p:nvSpPr>
        <p:spPr/>
        <p:txBody>
          <a:bodyPr/>
          <a:lstStyle/>
          <a:p>
            <a:r>
              <a:rPr lang="en-US" dirty="0"/>
              <a:t>Mathematical Guarantee of Byzantine</a:t>
            </a:r>
          </a:p>
        </p:txBody>
      </p:sp>
      <p:sp>
        <p:nvSpPr>
          <p:cNvPr id="7" name="Content Placeholder 6">
            <a:extLst>
              <a:ext uri="{FF2B5EF4-FFF2-40B4-BE49-F238E27FC236}">
                <a16:creationId xmlns:a16="http://schemas.microsoft.com/office/drawing/2014/main" id="{290C0E74-5218-543A-EF33-04478923E357}"/>
              </a:ext>
            </a:extLst>
          </p:cNvPr>
          <p:cNvSpPr>
            <a:spLocks noGrp="1"/>
          </p:cNvSpPr>
          <p:nvPr>
            <p:ph sz="quarter" idx="4"/>
          </p:nvPr>
        </p:nvSpPr>
        <p:spPr/>
        <p:txBody>
          <a:bodyPr>
            <a:normAutofit/>
          </a:bodyPr>
          <a:lstStyle/>
          <a:p>
            <a:r>
              <a:rPr lang="en-US" sz="1200" dirty="0"/>
              <a:t>To tolerate f Byzantine (malicious) nodes: Total participating nodes ≥ 3f + 1</a:t>
            </a:r>
          </a:p>
          <a:p>
            <a:r>
              <a:rPr lang="en-US" sz="1400" dirty="0"/>
              <a:t>In this project:</a:t>
            </a:r>
          </a:p>
          <a:p>
            <a:r>
              <a:rPr lang="en-US" sz="1400" dirty="0"/>
              <a:t>Byzantine nodes tolerated: </a:t>
            </a:r>
            <a:r>
              <a:rPr lang="en-US" sz="1400" b="1" dirty="0"/>
              <a:t>f = 1</a:t>
            </a:r>
            <a:endParaRPr lang="en-US" sz="1400" dirty="0"/>
          </a:p>
          <a:p>
            <a:r>
              <a:rPr lang="en-US" sz="1400" dirty="0"/>
              <a:t>Required nodes: </a:t>
            </a:r>
            <a:r>
              <a:rPr lang="en-US" sz="1400" b="1" dirty="0"/>
              <a:t>3(1) + 1 = 4</a:t>
            </a:r>
            <a:endParaRPr lang="en-US" sz="1400" dirty="0"/>
          </a:p>
          <a:p>
            <a:r>
              <a:rPr lang="en-US" sz="1400" dirty="0"/>
              <a:t>Implemented:</a:t>
            </a:r>
          </a:p>
          <a:p>
            <a:pPr lvl="1"/>
            <a:r>
              <a:rPr lang="en-US" sz="1400" b="1" dirty="0"/>
              <a:t>3 Detector Nodes</a:t>
            </a:r>
            <a:r>
              <a:rPr lang="en-US" sz="1400" dirty="0"/>
              <a:t> (voting participants) (RP6, RP8, RP8-V)</a:t>
            </a:r>
          </a:p>
          <a:p>
            <a:pPr lvl="1"/>
            <a:r>
              <a:rPr lang="en-US" sz="1400" b="1" dirty="0"/>
              <a:t>1 Coordinator Node</a:t>
            </a:r>
            <a:r>
              <a:rPr lang="en-US" sz="1400" dirty="0"/>
              <a:t> (consensus arbiter) (RP0)</a:t>
            </a:r>
          </a:p>
          <a:p>
            <a:r>
              <a:rPr lang="en-US" sz="1200" dirty="0"/>
              <a:t>Byzantine fault tolerance handles:</a:t>
            </a:r>
          </a:p>
          <a:p>
            <a:r>
              <a:rPr lang="en-US" sz="1200" dirty="0"/>
              <a:t>✅ lies</a:t>
            </a:r>
          </a:p>
          <a:p>
            <a:r>
              <a:rPr lang="en-US" sz="1200" dirty="0"/>
              <a:t>✅ deception</a:t>
            </a:r>
          </a:p>
          <a:p>
            <a:r>
              <a:rPr lang="en-US" sz="1200" dirty="0"/>
              <a:t>✅ insider compromise</a:t>
            </a:r>
          </a:p>
          <a:p>
            <a:endParaRPr lang="en-US" sz="1200" dirty="0"/>
          </a:p>
        </p:txBody>
      </p:sp>
    </p:spTree>
    <p:extLst>
      <p:ext uri="{BB962C8B-B14F-4D97-AF65-F5344CB8AC3E}">
        <p14:creationId xmlns:p14="http://schemas.microsoft.com/office/powerpoint/2010/main" val="257074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D11E1-BA3E-53C8-FFF6-3748996E17FC}"/>
              </a:ext>
            </a:extLst>
          </p:cNvPr>
          <p:cNvSpPr>
            <a:spLocks noGrp="1"/>
          </p:cNvSpPr>
          <p:nvPr>
            <p:ph type="title"/>
          </p:nvPr>
        </p:nvSpPr>
        <p:spPr/>
        <p:txBody>
          <a:bodyPr/>
          <a:lstStyle/>
          <a:p>
            <a:r>
              <a:rPr lang="en-US" dirty="0"/>
              <a:t>Byzantine Theory to Intrusion Detection</a:t>
            </a:r>
          </a:p>
        </p:txBody>
      </p:sp>
      <p:sp>
        <p:nvSpPr>
          <p:cNvPr id="3" name="Text Placeholder 2">
            <a:extLst>
              <a:ext uri="{FF2B5EF4-FFF2-40B4-BE49-F238E27FC236}">
                <a16:creationId xmlns:a16="http://schemas.microsoft.com/office/drawing/2014/main" id="{943FD5EA-7323-F93B-059C-CC6FDA775703}"/>
              </a:ext>
            </a:extLst>
          </p:cNvPr>
          <p:cNvSpPr>
            <a:spLocks noGrp="1"/>
          </p:cNvSpPr>
          <p:nvPr>
            <p:ph type="body" idx="1"/>
          </p:nvPr>
        </p:nvSpPr>
        <p:spPr/>
        <p:txBody>
          <a:bodyPr/>
          <a:lstStyle/>
          <a:p>
            <a:r>
              <a:rPr lang="en-US" dirty="0"/>
              <a:t>Byzantine Model</a:t>
            </a:r>
          </a:p>
        </p:txBody>
      </p:sp>
      <p:sp>
        <p:nvSpPr>
          <p:cNvPr id="4" name="Content Placeholder 3">
            <a:extLst>
              <a:ext uri="{FF2B5EF4-FFF2-40B4-BE49-F238E27FC236}">
                <a16:creationId xmlns:a16="http://schemas.microsoft.com/office/drawing/2014/main" id="{30B0DDD4-0DDA-5E59-D09F-3063083BB489}"/>
              </a:ext>
            </a:extLst>
          </p:cNvPr>
          <p:cNvSpPr>
            <a:spLocks noGrp="1"/>
          </p:cNvSpPr>
          <p:nvPr>
            <p:ph sz="half" idx="2"/>
          </p:nvPr>
        </p:nvSpPr>
        <p:spPr/>
        <p:txBody>
          <a:bodyPr>
            <a:normAutofit fontScale="62500" lnSpcReduction="20000"/>
          </a:bodyPr>
          <a:lstStyle/>
          <a:p>
            <a:r>
              <a:rPr lang="en-US" sz="2900" dirty="0"/>
              <a:t>Byzantine Failure Model</a:t>
            </a:r>
          </a:p>
          <a:p>
            <a:r>
              <a:rPr lang="en-US" sz="2900" dirty="0"/>
              <a:t>Nodes are </a:t>
            </a:r>
            <a:r>
              <a:rPr lang="en-US" sz="2900" i="1" dirty="0"/>
              <a:t>not just faulty</a:t>
            </a:r>
            <a:r>
              <a:rPr lang="en-US" sz="2900" dirty="0"/>
              <a:t> — they are </a:t>
            </a:r>
            <a:r>
              <a:rPr lang="en-US" sz="2900" b="1" dirty="0"/>
              <a:t>malicious</a:t>
            </a:r>
            <a:endParaRPr lang="en-US" sz="2900" dirty="0"/>
          </a:p>
          <a:p>
            <a:r>
              <a:rPr lang="en-US" sz="2900" dirty="0"/>
              <a:t>A Byzantine node may:</a:t>
            </a:r>
          </a:p>
          <a:p>
            <a:pPr lvl="1"/>
            <a:r>
              <a:rPr lang="en-US" sz="2900" dirty="0"/>
              <a:t>Lie about the system state</a:t>
            </a:r>
          </a:p>
          <a:p>
            <a:pPr lvl="1"/>
            <a:r>
              <a:rPr lang="en-US" sz="2900" dirty="0"/>
              <a:t>Send different messages to different nodes</a:t>
            </a:r>
          </a:p>
          <a:p>
            <a:pPr lvl="1"/>
            <a:r>
              <a:rPr lang="en-US" sz="2900" dirty="0"/>
              <a:t>Cooperate with the attacker</a:t>
            </a:r>
          </a:p>
          <a:p>
            <a:r>
              <a:rPr lang="en-US" sz="2900" dirty="0"/>
              <a:t>Failures are </a:t>
            </a:r>
            <a:r>
              <a:rPr lang="en-US" sz="2900" b="1" dirty="0"/>
              <a:t>arbitrary and unpredictable</a:t>
            </a:r>
            <a:endParaRPr lang="en-US" sz="2900" dirty="0"/>
          </a:p>
          <a:p>
            <a:r>
              <a:rPr lang="en-US" sz="2900" b="1" dirty="0"/>
              <a:t>Trust cannot be assumed</a:t>
            </a:r>
            <a:endParaRPr lang="en-US" sz="2900" dirty="0"/>
          </a:p>
          <a:p>
            <a:r>
              <a:rPr lang="en-US" sz="2900" b="1" dirty="0"/>
              <a:t>Key Requirement</a:t>
            </a:r>
            <a:endParaRPr lang="en-US" sz="2900" dirty="0"/>
          </a:p>
          <a:p>
            <a:r>
              <a:rPr lang="en-US" sz="2900" dirty="0"/>
              <a:t>All honest nodes must reach the </a:t>
            </a:r>
            <a:r>
              <a:rPr lang="en-US" sz="2900" b="1" dirty="0"/>
              <a:t>same correct decision</a:t>
            </a:r>
            <a:endParaRPr lang="en-US" sz="2900" dirty="0"/>
          </a:p>
          <a:p>
            <a:r>
              <a:rPr lang="en-US" sz="2900" dirty="0"/>
              <a:t>Even when some participants actively try to break agreement</a:t>
            </a:r>
          </a:p>
          <a:p>
            <a:endParaRPr lang="en-US" sz="1400" dirty="0"/>
          </a:p>
        </p:txBody>
      </p:sp>
      <p:sp>
        <p:nvSpPr>
          <p:cNvPr id="5" name="Text Placeholder 4">
            <a:extLst>
              <a:ext uri="{FF2B5EF4-FFF2-40B4-BE49-F238E27FC236}">
                <a16:creationId xmlns:a16="http://schemas.microsoft.com/office/drawing/2014/main" id="{B2B5AAF7-B103-6C15-8ABC-C38CC3270F0B}"/>
              </a:ext>
            </a:extLst>
          </p:cNvPr>
          <p:cNvSpPr>
            <a:spLocks noGrp="1"/>
          </p:cNvSpPr>
          <p:nvPr>
            <p:ph type="body" sz="quarter" idx="3"/>
          </p:nvPr>
        </p:nvSpPr>
        <p:spPr/>
        <p:txBody>
          <a:bodyPr/>
          <a:lstStyle/>
          <a:p>
            <a:r>
              <a:rPr lang="en-US" dirty="0"/>
              <a:t>IDS Reality (Security Model)</a:t>
            </a:r>
          </a:p>
        </p:txBody>
      </p:sp>
      <p:sp>
        <p:nvSpPr>
          <p:cNvPr id="6" name="Content Placeholder 5">
            <a:extLst>
              <a:ext uri="{FF2B5EF4-FFF2-40B4-BE49-F238E27FC236}">
                <a16:creationId xmlns:a16="http://schemas.microsoft.com/office/drawing/2014/main" id="{80F3FA5B-95DE-715D-FDBA-13B12DF1687B}"/>
              </a:ext>
            </a:extLst>
          </p:cNvPr>
          <p:cNvSpPr>
            <a:spLocks noGrp="1"/>
          </p:cNvSpPr>
          <p:nvPr>
            <p:ph sz="quarter" idx="4"/>
          </p:nvPr>
        </p:nvSpPr>
        <p:spPr/>
        <p:txBody>
          <a:bodyPr>
            <a:normAutofit fontScale="62500" lnSpcReduction="20000"/>
          </a:bodyPr>
          <a:lstStyle/>
          <a:p>
            <a:r>
              <a:rPr lang="en-US" sz="2900" b="1" dirty="0"/>
              <a:t>Intrusion Detection Failure Model</a:t>
            </a:r>
            <a:endParaRPr lang="en-US" sz="2900" dirty="0"/>
          </a:p>
          <a:p>
            <a:r>
              <a:rPr lang="en-US" sz="2900" dirty="0"/>
              <a:t>IDS nodes can be:</a:t>
            </a:r>
          </a:p>
          <a:p>
            <a:pPr lvl="1"/>
            <a:r>
              <a:rPr lang="en-US" sz="2900" dirty="0"/>
              <a:t>Compromised by malware</a:t>
            </a:r>
          </a:p>
          <a:p>
            <a:pPr lvl="1"/>
            <a:r>
              <a:rPr lang="en-US" sz="2900" dirty="0"/>
              <a:t>Manipulated by insiders</a:t>
            </a:r>
          </a:p>
          <a:p>
            <a:pPr lvl="1"/>
            <a:r>
              <a:rPr lang="en-US" sz="2900" dirty="0"/>
              <a:t>Subverted by attackers</a:t>
            </a:r>
          </a:p>
          <a:p>
            <a:r>
              <a:rPr lang="en-US" sz="2900" dirty="0"/>
              <a:t>A compromised IDS can:</a:t>
            </a:r>
          </a:p>
          <a:p>
            <a:pPr lvl="1"/>
            <a:r>
              <a:rPr lang="en-US" sz="2900" dirty="0"/>
              <a:t>Suppress real alerts (false negatives)</a:t>
            </a:r>
          </a:p>
          <a:p>
            <a:pPr lvl="1"/>
            <a:r>
              <a:rPr lang="en-US" sz="2900" dirty="0"/>
              <a:t>Inject false alerts (false positives)</a:t>
            </a:r>
          </a:p>
          <a:p>
            <a:pPr lvl="1"/>
            <a:r>
              <a:rPr lang="en-US" sz="2900" dirty="0"/>
              <a:t>Report different results to different systems</a:t>
            </a:r>
          </a:p>
          <a:p>
            <a:r>
              <a:rPr lang="en-US" sz="2900" b="1" dirty="0"/>
              <a:t>Key Observation</a:t>
            </a:r>
            <a:endParaRPr lang="en-US" sz="2900" dirty="0"/>
          </a:p>
          <a:p>
            <a:r>
              <a:rPr lang="en-US" sz="2900" dirty="0"/>
              <a:t>IDS failures are </a:t>
            </a:r>
            <a:r>
              <a:rPr lang="en-US" sz="2900" b="1" dirty="0"/>
              <a:t>Byzantine by nature</a:t>
            </a:r>
            <a:r>
              <a:rPr lang="en-US" sz="2900" dirty="0"/>
              <a:t>, not crash-only</a:t>
            </a:r>
          </a:p>
          <a:p>
            <a:endParaRPr lang="en-US" dirty="0"/>
          </a:p>
        </p:txBody>
      </p:sp>
    </p:spTree>
    <p:extLst>
      <p:ext uri="{BB962C8B-B14F-4D97-AF65-F5344CB8AC3E}">
        <p14:creationId xmlns:p14="http://schemas.microsoft.com/office/powerpoint/2010/main" val="47592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B8EF-5A93-68F1-EA0A-6D86D88B34F5}"/>
              </a:ext>
            </a:extLst>
          </p:cNvPr>
          <p:cNvSpPr>
            <a:spLocks noGrp="1"/>
          </p:cNvSpPr>
          <p:nvPr>
            <p:ph type="title"/>
          </p:nvPr>
        </p:nvSpPr>
        <p:spPr/>
        <p:txBody>
          <a:bodyPr>
            <a:normAutofit/>
          </a:bodyPr>
          <a:lstStyle/>
          <a:p>
            <a:r>
              <a:rPr lang="en-US" sz="4000" b="1" dirty="0"/>
              <a:t>Why Traditional Intrusion Detection Systems Fail</a:t>
            </a:r>
          </a:p>
        </p:txBody>
      </p:sp>
      <p:sp>
        <p:nvSpPr>
          <p:cNvPr id="3" name="Text Placeholder 2">
            <a:extLst>
              <a:ext uri="{FF2B5EF4-FFF2-40B4-BE49-F238E27FC236}">
                <a16:creationId xmlns:a16="http://schemas.microsoft.com/office/drawing/2014/main" id="{82CBE895-E8B8-8D40-DEBB-8402B04E1896}"/>
              </a:ext>
            </a:extLst>
          </p:cNvPr>
          <p:cNvSpPr>
            <a:spLocks noGrp="1"/>
          </p:cNvSpPr>
          <p:nvPr>
            <p:ph type="body" idx="1"/>
          </p:nvPr>
        </p:nvSpPr>
        <p:spPr/>
        <p:txBody>
          <a:bodyPr/>
          <a:lstStyle/>
          <a:p>
            <a:r>
              <a:rPr lang="en-US" dirty="0"/>
              <a:t>Assumptions in Traditional IDS</a:t>
            </a:r>
          </a:p>
        </p:txBody>
      </p:sp>
      <p:sp>
        <p:nvSpPr>
          <p:cNvPr id="4" name="Content Placeholder 3">
            <a:extLst>
              <a:ext uri="{FF2B5EF4-FFF2-40B4-BE49-F238E27FC236}">
                <a16:creationId xmlns:a16="http://schemas.microsoft.com/office/drawing/2014/main" id="{637D6A14-CADF-055F-B4CE-D7C31258E71F}"/>
              </a:ext>
            </a:extLst>
          </p:cNvPr>
          <p:cNvSpPr>
            <a:spLocks noGrp="1"/>
          </p:cNvSpPr>
          <p:nvPr>
            <p:ph sz="half" idx="2"/>
          </p:nvPr>
        </p:nvSpPr>
        <p:spPr/>
        <p:txBody>
          <a:bodyPr>
            <a:normAutofit fontScale="55000" lnSpcReduction="20000"/>
          </a:bodyPr>
          <a:lstStyle/>
          <a:p>
            <a:pPr>
              <a:buNone/>
            </a:pPr>
            <a:r>
              <a:rPr lang="en-US" dirty="0"/>
              <a:t>Traditional IDS Design Assumptions</a:t>
            </a:r>
          </a:p>
          <a:p>
            <a:pPr>
              <a:buFont typeface="Arial" panose="020B0604020202020204" pitchFamily="34" charset="0"/>
              <a:buChar char="•"/>
            </a:pPr>
            <a:r>
              <a:rPr lang="en-US" dirty="0"/>
              <a:t>IDS nodes are </a:t>
            </a:r>
            <a:r>
              <a:rPr lang="en-US" b="1" dirty="0"/>
              <a:t>trusted by default</a:t>
            </a:r>
            <a:endParaRPr lang="en-US" dirty="0"/>
          </a:p>
          <a:p>
            <a:pPr>
              <a:buFont typeface="Arial" panose="020B0604020202020204" pitchFamily="34" charset="0"/>
              <a:buChar char="•"/>
            </a:pPr>
            <a:r>
              <a:rPr lang="en-US" dirty="0"/>
              <a:t>Alerts from detectors are assumed </a:t>
            </a:r>
            <a:r>
              <a:rPr lang="en-US" b="1" dirty="0"/>
              <a:t>truthful</a:t>
            </a:r>
            <a:endParaRPr lang="en-US" dirty="0"/>
          </a:p>
          <a:p>
            <a:pPr>
              <a:buFont typeface="Arial" panose="020B0604020202020204" pitchFamily="34" charset="0"/>
              <a:buChar char="•"/>
            </a:pPr>
            <a:r>
              <a:rPr lang="en-US" dirty="0"/>
              <a:t>Failures are assumed to be:</a:t>
            </a:r>
          </a:p>
          <a:p>
            <a:pPr marL="742950" lvl="1" indent="-285750">
              <a:buFont typeface="Arial" panose="020B0604020202020204" pitchFamily="34" charset="0"/>
              <a:buChar char="•"/>
            </a:pPr>
            <a:r>
              <a:rPr lang="en-US" dirty="0"/>
              <a:t>Crashes</a:t>
            </a:r>
          </a:p>
          <a:p>
            <a:pPr marL="742950" lvl="1" indent="-285750">
              <a:buFont typeface="Arial" panose="020B0604020202020204" pitchFamily="34" charset="0"/>
              <a:buChar char="•"/>
            </a:pPr>
            <a:r>
              <a:rPr lang="en-US" dirty="0"/>
              <a:t>Downtime</a:t>
            </a:r>
          </a:p>
          <a:p>
            <a:pPr marL="742950" lvl="1" indent="-285750">
              <a:buFont typeface="Arial" panose="020B0604020202020204" pitchFamily="34" charset="0"/>
              <a:buChar char="•"/>
            </a:pPr>
            <a:r>
              <a:rPr lang="en-US" dirty="0"/>
              <a:t>Misconfiguration</a:t>
            </a:r>
          </a:p>
          <a:p>
            <a:pPr>
              <a:buFont typeface="Arial" panose="020B0604020202020204" pitchFamily="34" charset="0"/>
              <a:buChar char="•"/>
            </a:pPr>
            <a:r>
              <a:rPr lang="en-US" dirty="0"/>
              <a:t>No mechanism to:</a:t>
            </a:r>
          </a:p>
          <a:p>
            <a:pPr marL="742950" lvl="1" indent="-285750">
              <a:buFont typeface="Arial" panose="020B0604020202020204" pitchFamily="34" charset="0"/>
              <a:buChar char="•"/>
            </a:pPr>
            <a:r>
              <a:rPr lang="en-US" dirty="0"/>
              <a:t>Verify alerts</a:t>
            </a:r>
          </a:p>
          <a:p>
            <a:pPr marL="742950" lvl="1" indent="-285750">
              <a:buFont typeface="Arial" panose="020B0604020202020204" pitchFamily="34" charset="0"/>
              <a:buChar char="•"/>
            </a:pPr>
            <a:r>
              <a:rPr lang="en-US" dirty="0"/>
              <a:t>Detect malicious detectors</a:t>
            </a:r>
          </a:p>
          <a:p>
            <a:pPr marL="742950" lvl="1" indent="-285750">
              <a:buFont typeface="Arial" panose="020B0604020202020204" pitchFamily="34" charset="0"/>
              <a:buChar char="•"/>
            </a:pPr>
            <a:r>
              <a:rPr lang="en-US" dirty="0"/>
              <a:t>Resolve conflicting alerts</a:t>
            </a:r>
          </a:p>
          <a:p>
            <a:pPr>
              <a:buNone/>
            </a:pPr>
            <a:r>
              <a:rPr lang="en-US" b="1" dirty="0"/>
              <a:t>Implicit Trust Model</a:t>
            </a:r>
            <a:endParaRPr lang="en-US" dirty="0"/>
          </a:p>
          <a:p>
            <a:pPr>
              <a:buFont typeface="Arial" panose="020B0604020202020204" pitchFamily="34" charset="0"/>
              <a:buChar char="•"/>
            </a:pPr>
            <a:r>
              <a:rPr lang="en-US" dirty="0"/>
              <a:t>One detector = one source of truth</a:t>
            </a:r>
          </a:p>
          <a:p>
            <a:pPr>
              <a:buFont typeface="Arial" panose="020B0604020202020204" pitchFamily="34" charset="0"/>
              <a:buChar char="•"/>
            </a:pPr>
            <a:r>
              <a:rPr lang="en-US" dirty="0"/>
              <a:t>If the detector lies → system fails silently</a:t>
            </a:r>
          </a:p>
          <a:p>
            <a:endParaRPr lang="en-US" sz="1400" dirty="0"/>
          </a:p>
        </p:txBody>
      </p:sp>
      <p:sp>
        <p:nvSpPr>
          <p:cNvPr id="5" name="Text Placeholder 4">
            <a:extLst>
              <a:ext uri="{FF2B5EF4-FFF2-40B4-BE49-F238E27FC236}">
                <a16:creationId xmlns:a16="http://schemas.microsoft.com/office/drawing/2014/main" id="{9AFE0144-165B-E76D-0E24-B92CF2CFBE46}"/>
              </a:ext>
            </a:extLst>
          </p:cNvPr>
          <p:cNvSpPr>
            <a:spLocks noGrp="1"/>
          </p:cNvSpPr>
          <p:nvPr>
            <p:ph type="body" sz="quarter" idx="3"/>
          </p:nvPr>
        </p:nvSpPr>
        <p:spPr/>
        <p:txBody>
          <a:bodyPr/>
          <a:lstStyle/>
          <a:p>
            <a:r>
              <a:rPr lang="en-US" dirty="0"/>
              <a:t>Reality Under Adversarial Conditions</a:t>
            </a:r>
          </a:p>
        </p:txBody>
      </p:sp>
      <p:sp>
        <p:nvSpPr>
          <p:cNvPr id="6" name="Content Placeholder 5">
            <a:extLst>
              <a:ext uri="{FF2B5EF4-FFF2-40B4-BE49-F238E27FC236}">
                <a16:creationId xmlns:a16="http://schemas.microsoft.com/office/drawing/2014/main" id="{CBBED6E0-664B-FEAB-BBB0-C59BEDEC88E9}"/>
              </a:ext>
            </a:extLst>
          </p:cNvPr>
          <p:cNvSpPr>
            <a:spLocks noGrp="1"/>
          </p:cNvSpPr>
          <p:nvPr>
            <p:ph sz="quarter" idx="4"/>
          </p:nvPr>
        </p:nvSpPr>
        <p:spPr/>
        <p:txBody>
          <a:bodyPr>
            <a:normAutofit fontScale="55000" lnSpcReduction="20000"/>
          </a:bodyPr>
          <a:lstStyle/>
          <a:p>
            <a:pPr>
              <a:buNone/>
            </a:pPr>
            <a:r>
              <a:rPr lang="en-US" dirty="0"/>
              <a:t>What Happens in Real Attacks</a:t>
            </a:r>
          </a:p>
          <a:p>
            <a:pPr>
              <a:buFont typeface="Arial" panose="020B0604020202020204" pitchFamily="34" charset="0"/>
              <a:buChar char="•"/>
            </a:pPr>
            <a:r>
              <a:rPr lang="en-US" dirty="0"/>
              <a:t>IDS nodes can be:</a:t>
            </a:r>
          </a:p>
          <a:p>
            <a:pPr marL="742950" lvl="1" indent="-285750">
              <a:buFont typeface="Arial" panose="020B0604020202020204" pitchFamily="34" charset="0"/>
              <a:buChar char="•"/>
            </a:pPr>
            <a:r>
              <a:rPr lang="en-US" dirty="0"/>
              <a:t>Compromised by attackers</a:t>
            </a:r>
          </a:p>
          <a:p>
            <a:pPr marL="742950" lvl="1" indent="-285750">
              <a:buFont typeface="Arial" panose="020B0604020202020204" pitchFamily="34" charset="0"/>
              <a:buChar char="•"/>
            </a:pPr>
            <a:r>
              <a:rPr lang="en-US" dirty="0"/>
              <a:t>Controlled by insiders</a:t>
            </a:r>
          </a:p>
          <a:p>
            <a:pPr marL="742950" lvl="1" indent="-285750">
              <a:buFont typeface="Arial" panose="020B0604020202020204" pitchFamily="34" charset="0"/>
              <a:buChar char="•"/>
            </a:pPr>
            <a:r>
              <a:rPr lang="en-US" dirty="0"/>
              <a:t>Manipulated through supply-chain attacks</a:t>
            </a:r>
          </a:p>
          <a:p>
            <a:pPr>
              <a:buFont typeface="Arial" panose="020B0604020202020204" pitchFamily="34" charset="0"/>
              <a:buChar char="•"/>
            </a:pPr>
            <a:r>
              <a:rPr lang="en-US" dirty="0"/>
              <a:t>A compromised IDS can:</a:t>
            </a:r>
          </a:p>
          <a:p>
            <a:pPr marL="742950" lvl="1" indent="-285750">
              <a:buFont typeface="Arial" panose="020B0604020202020204" pitchFamily="34" charset="0"/>
              <a:buChar char="•"/>
            </a:pPr>
            <a:r>
              <a:rPr lang="en-US" dirty="0"/>
              <a:t>Hide real intrusions (false negatives)</a:t>
            </a:r>
          </a:p>
          <a:p>
            <a:pPr marL="742950" lvl="1" indent="-285750">
              <a:buFont typeface="Arial" panose="020B0604020202020204" pitchFamily="34" charset="0"/>
              <a:buChar char="•"/>
            </a:pPr>
            <a:r>
              <a:rPr lang="en-US" dirty="0"/>
              <a:t>Flood the system with noise (false positives)</a:t>
            </a:r>
          </a:p>
          <a:p>
            <a:pPr marL="742950" lvl="1" indent="-285750">
              <a:buFont typeface="Arial" panose="020B0604020202020204" pitchFamily="34" charset="0"/>
              <a:buChar char="•"/>
            </a:pPr>
            <a:r>
              <a:rPr lang="en-US" dirty="0"/>
              <a:t>Report different alerts to different systems</a:t>
            </a:r>
          </a:p>
          <a:p>
            <a:pPr>
              <a:buNone/>
            </a:pPr>
            <a:r>
              <a:rPr lang="en-US" b="1" dirty="0"/>
              <a:t>Critical Limitation</a:t>
            </a:r>
            <a:endParaRPr lang="en-US" dirty="0"/>
          </a:p>
          <a:p>
            <a:pPr>
              <a:buFont typeface="Arial" panose="020B0604020202020204" pitchFamily="34" charset="0"/>
              <a:buChar char="•"/>
            </a:pPr>
            <a:r>
              <a:rPr lang="en-US" dirty="0"/>
              <a:t>Traditional IDS </a:t>
            </a:r>
            <a:r>
              <a:rPr lang="en-US" b="1" dirty="0"/>
              <a:t>cannot distinguish</a:t>
            </a:r>
            <a:r>
              <a:rPr lang="en-US" dirty="0"/>
              <a:t>:</a:t>
            </a:r>
          </a:p>
          <a:p>
            <a:pPr marL="742950" lvl="1" indent="-285750">
              <a:buFont typeface="Arial" panose="020B0604020202020204" pitchFamily="34" charset="0"/>
              <a:buChar char="•"/>
            </a:pPr>
            <a:r>
              <a:rPr lang="en-US" dirty="0"/>
              <a:t>Honest alerts vs malicious alerts</a:t>
            </a:r>
          </a:p>
          <a:p>
            <a:pPr marL="742950" lvl="1" indent="-285750">
              <a:buFont typeface="Arial" panose="020B0604020202020204" pitchFamily="34" charset="0"/>
              <a:buChar char="•"/>
            </a:pPr>
            <a:r>
              <a:rPr lang="en-US" dirty="0"/>
              <a:t>Faulty behavior vs adversarial behavior</a:t>
            </a:r>
          </a:p>
          <a:p>
            <a:endParaRPr lang="en-US" dirty="0"/>
          </a:p>
        </p:txBody>
      </p:sp>
    </p:spTree>
    <p:extLst>
      <p:ext uri="{BB962C8B-B14F-4D97-AF65-F5344CB8AC3E}">
        <p14:creationId xmlns:p14="http://schemas.microsoft.com/office/powerpoint/2010/main" val="2491293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5DF1-E4D7-A8C5-6BD1-61A5795944DE}"/>
              </a:ext>
            </a:extLst>
          </p:cNvPr>
          <p:cNvSpPr>
            <a:spLocks noGrp="1"/>
          </p:cNvSpPr>
          <p:nvPr>
            <p:ph type="title"/>
          </p:nvPr>
        </p:nvSpPr>
        <p:spPr/>
        <p:txBody>
          <a:bodyPr/>
          <a:lstStyle/>
          <a:p>
            <a:r>
              <a:rPr lang="en-US" dirty="0"/>
              <a:t>                           BFT-IDS Model</a:t>
            </a:r>
          </a:p>
        </p:txBody>
      </p:sp>
      <p:sp>
        <p:nvSpPr>
          <p:cNvPr id="3" name="Text Placeholder 2">
            <a:extLst>
              <a:ext uri="{FF2B5EF4-FFF2-40B4-BE49-F238E27FC236}">
                <a16:creationId xmlns:a16="http://schemas.microsoft.com/office/drawing/2014/main" id="{6AFA646E-5D36-44EC-E38F-226281279B1B}"/>
              </a:ext>
            </a:extLst>
          </p:cNvPr>
          <p:cNvSpPr>
            <a:spLocks noGrp="1"/>
          </p:cNvSpPr>
          <p:nvPr>
            <p:ph type="body" idx="1"/>
          </p:nvPr>
        </p:nvSpPr>
        <p:spPr/>
        <p:txBody>
          <a:bodyPr/>
          <a:lstStyle/>
          <a:p>
            <a:r>
              <a:rPr lang="en-US" dirty="0"/>
              <a:t>Traditional IDS Model</a:t>
            </a:r>
          </a:p>
        </p:txBody>
      </p:sp>
      <p:sp>
        <p:nvSpPr>
          <p:cNvPr id="4" name="Content Placeholder 3">
            <a:extLst>
              <a:ext uri="{FF2B5EF4-FFF2-40B4-BE49-F238E27FC236}">
                <a16:creationId xmlns:a16="http://schemas.microsoft.com/office/drawing/2014/main" id="{2945AA52-76B0-FDDB-9ABC-E0DF4FEFB4A8}"/>
              </a:ext>
            </a:extLst>
          </p:cNvPr>
          <p:cNvSpPr>
            <a:spLocks noGrp="1"/>
          </p:cNvSpPr>
          <p:nvPr>
            <p:ph sz="half" idx="2"/>
          </p:nvPr>
        </p:nvSpPr>
        <p:spPr>
          <a:xfrm>
            <a:off x="839788" y="2505075"/>
            <a:ext cx="5157787" cy="3987800"/>
          </a:xfrm>
        </p:spPr>
        <p:txBody>
          <a:bodyPr>
            <a:normAutofit fontScale="77500" lnSpcReduction="20000"/>
          </a:bodyPr>
          <a:lstStyle/>
          <a:p>
            <a:pPr>
              <a:buNone/>
            </a:pPr>
            <a:r>
              <a:rPr lang="en-US" b="1" dirty="0"/>
              <a:t>Trust-Based Decision Model</a:t>
            </a:r>
            <a:endParaRPr lang="en-US" dirty="0"/>
          </a:p>
          <a:p>
            <a:pPr>
              <a:buFont typeface="Arial" panose="020B0604020202020204" pitchFamily="34" charset="0"/>
              <a:buChar char="•"/>
            </a:pPr>
            <a:r>
              <a:rPr lang="en-US" dirty="0"/>
              <a:t>Single detector reports an alert</a:t>
            </a:r>
          </a:p>
          <a:p>
            <a:pPr>
              <a:buFont typeface="Arial" panose="020B0604020202020204" pitchFamily="34" charset="0"/>
              <a:buChar char="•"/>
            </a:pPr>
            <a:r>
              <a:rPr lang="en-US" dirty="0"/>
              <a:t>Alert is accepted as truth</a:t>
            </a:r>
          </a:p>
          <a:p>
            <a:pPr>
              <a:buFont typeface="Arial" panose="020B0604020202020204" pitchFamily="34" charset="0"/>
              <a:buChar char="•"/>
            </a:pPr>
            <a:r>
              <a:rPr lang="en-US" dirty="0"/>
              <a:t>Decision depends entirely on:</a:t>
            </a:r>
          </a:p>
          <a:p>
            <a:pPr marL="742950" lvl="1" indent="-285750">
              <a:buFont typeface="Arial" panose="020B0604020202020204" pitchFamily="34" charset="0"/>
              <a:buChar char="•"/>
            </a:pPr>
            <a:r>
              <a:rPr lang="en-US" dirty="0"/>
              <a:t>Integrity of that detector</a:t>
            </a:r>
          </a:p>
          <a:p>
            <a:pPr marL="742950" lvl="1" indent="-285750">
              <a:buFont typeface="Arial" panose="020B0604020202020204" pitchFamily="34" charset="0"/>
              <a:buChar char="•"/>
            </a:pPr>
            <a:r>
              <a:rPr lang="en-US" dirty="0"/>
              <a:t>Assumption that it is uncompromised</a:t>
            </a:r>
          </a:p>
          <a:p>
            <a:pPr>
              <a:buNone/>
            </a:pPr>
            <a:r>
              <a:rPr lang="en-US" b="1" dirty="0"/>
              <a:t>Failure Case</a:t>
            </a:r>
            <a:endParaRPr lang="en-US" dirty="0"/>
          </a:p>
          <a:p>
            <a:pPr>
              <a:buFont typeface="Arial" panose="020B0604020202020204" pitchFamily="34" charset="0"/>
              <a:buChar char="•"/>
            </a:pPr>
            <a:r>
              <a:rPr lang="en-US" dirty="0"/>
              <a:t>If one detector lies → incorrect decision</a:t>
            </a:r>
          </a:p>
          <a:p>
            <a:pPr>
              <a:buFont typeface="Arial" panose="020B0604020202020204" pitchFamily="34" charset="0"/>
              <a:buChar char="•"/>
            </a:pPr>
            <a:r>
              <a:rPr lang="en-US" dirty="0"/>
              <a:t>No way to validate or challenge the alert</a:t>
            </a:r>
          </a:p>
          <a:p>
            <a:endParaRPr lang="en-US" sz="1600" dirty="0"/>
          </a:p>
        </p:txBody>
      </p:sp>
      <p:sp>
        <p:nvSpPr>
          <p:cNvPr id="5" name="Text Placeholder 4">
            <a:extLst>
              <a:ext uri="{FF2B5EF4-FFF2-40B4-BE49-F238E27FC236}">
                <a16:creationId xmlns:a16="http://schemas.microsoft.com/office/drawing/2014/main" id="{653DF000-D2F3-5E37-A412-485AB9E288E1}"/>
              </a:ext>
            </a:extLst>
          </p:cNvPr>
          <p:cNvSpPr>
            <a:spLocks noGrp="1"/>
          </p:cNvSpPr>
          <p:nvPr>
            <p:ph type="body" sz="quarter" idx="3"/>
          </p:nvPr>
        </p:nvSpPr>
        <p:spPr/>
        <p:txBody>
          <a:bodyPr/>
          <a:lstStyle/>
          <a:p>
            <a:r>
              <a:rPr lang="en-US" dirty="0"/>
              <a:t>BFT-IDS Model</a:t>
            </a:r>
          </a:p>
        </p:txBody>
      </p:sp>
      <p:sp>
        <p:nvSpPr>
          <p:cNvPr id="6" name="Content Placeholder 5">
            <a:extLst>
              <a:ext uri="{FF2B5EF4-FFF2-40B4-BE49-F238E27FC236}">
                <a16:creationId xmlns:a16="http://schemas.microsoft.com/office/drawing/2014/main" id="{B7430602-FD6C-D052-171B-B5C9EBC6BE3C}"/>
              </a:ext>
            </a:extLst>
          </p:cNvPr>
          <p:cNvSpPr>
            <a:spLocks noGrp="1"/>
          </p:cNvSpPr>
          <p:nvPr>
            <p:ph sz="quarter" idx="4"/>
          </p:nvPr>
        </p:nvSpPr>
        <p:spPr>
          <a:xfrm>
            <a:off x="6172200" y="2505075"/>
            <a:ext cx="5183188" cy="3987800"/>
          </a:xfrm>
        </p:spPr>
        <p:txBody>
          <a:bodyPr>
            <a:normAutofit fontScale="77500" lnSpcReduction="20000"/>
          </a:bodyPr>
          <a:lstStyle/>
          <a:p>
            <a:pPr>
              <a:buNone/>
            </a:pPr>
            <a:r>
              <a:rPr lang="en-US" sz="2400" b="1" dirty="0"/>
              <a:t>Consensus-Based Decision Model</a:t>
            </a:r>
            <a:endParaRPr lang="en-US" sz="2400" dirty="0"/>
          </a:p>
          <a:p>
            <a:pPr>
              <a:buFont typeface="Arial" panose="020B0604020202020204" pitchFamily="34" charset="0"/>
              <a:buChar char="•"/>
            </a:pPr>
            <a:r>
              <a:rPr lang="en-US" sz="2400" dirty="0"/>
              <a:t>Multiple independent detectors observe the same traffic</a:t>
            </a:r>
          </a:p>
          <a:p>
            <a:pPr>
              <a:buFont typeface="Arial" panose="020B0604020202020204" pitchFamily="34" charset="0"/>
              <a:buChar char="•"/>
            </a:pPr>
            <a:r>
              <a:rPr lang="en-US" sz="2400" dirty="0"/>
              <a:t>Each detector submits its own alert (vote)</a:t>
            </a:r>
          </a:p>
          <a:p>
            <a:pPr>
              <a:buFont typeface="Arial" panose="020B0604020202020204" pitchFamily="34" charset="0"/>
              <a:buChar char="•"/>
            </a:pPr>
            <a:r>
              <a:rPr lang="en-US" sz="2400" dirty="0"/>
              <a:t>A coordinator aggregates all votes</a:t>
            </a:r>
          </a:p>
          <a:p>
            <a:pPr>
              <a:buFont typeface="Arial" panose="020B0604020202020204" pitchFamily="34" charset="0"/>
              <a:buChar char="•"/>
            </a:pPr>
            <a:r>
              <a:rPr lang="en-US" sz="2400" dirty="0"/>
              <a:t>Final decision is based on </a:t>
            </a:r>
            <a:r>
              <a:rPr lang="en-US" sz="2400" b="1" dirty="0"/>
              <a:t>majority agreement</a:t>
            </a:r>
            <a:endParaRPr lang="en-US" sz="2400" dirty="0"/>
          </a:p>
          <a:p>
            <a:pPr>
              <a:buNone/>
            </a:pPr>
            <a:r>
              <a:rPr lang="en-US" sz="2400" b="1" dirty="0"/>
              <a:t>Key Property</a:t>
            </a:r>
            <a:endParaRPr lang="en-US" sz="2400" dirty="0"/>
          </a:p>
          <a:p>
            <a:pPr>
              <a:buFont typeface="Arial" panose="020B0604020202020204" pitchFamily="34" charset="0"/>
              <a:buChar char="•"/>
            </a:pPr>
            <a:r>
              <a:rPr lang="en-US" sz="2400" dirty="0"/>
              <a:t>Malicious or lying nodes are </a:t>
            </a:r>
            <a:r>
              <a:rPr lang="en-US" sz="2400" b="1" dirty="0"/>
              <a:t>outvoted</a:t>
            </a:r>
            <a:endParaRPr lang="en-US" sz="2400" dirty="0"/>
          </a:p>
          <a:p>
            <a:pPr>
              <a:buFont typeface="Arial" panose="020B0604020202020204" pitchFamily="34" charset="0"/>
              <a:buChar char="•"/>
            </a:pPr>
            <a:r>
              <a:rPr lang="en-US" sz="2400" dirty="0"/>
              <a:t>Honest nodes always reach the same correct decision</a:t>
            </a:r>
          </a:p>
          <a:p>
            <a:pPr>
              <a:buFont typeface="Arial" panose="020B0604020202020204" pitchFamily="34" charset="0"/>
              <a:buChar char="•"/>
            </a:pPr>
            <a:r>
              <a:rPr lang="en-US" sz="1900" dirty="0"/>
              <a:t>Detectors → Independent voters</a:t>
            </a:r>
          </a:p>
          <a:p>
            <a:pPr>
              <a:buFont typeface="Arial" panose="020B0604020202020204" pitchFamily="34" charset="0"/>
              <a:buChar char="•"/>
            </a:pPr>
            <a:r>
              <a:rPr lang="en-US" sz="1900" dirty="0"/>
              <a:t>Coordinator → Consensus arbiter</a:t>
            </a:r>
          </a:p>
          <a:p>
            <a:pPr>
              <a:buFont typeface="Arial" panose="020B0604020202020204" pitchFamily="34" charset="0"/>
              <a:buChar char="•"/>
            </a:pPr>
            <a:r>
              <a:rPr lang="en-US" sz="1900" dirty="0"/>
              <a:t>Decision → Majority-approved alert</a:t>
            </a:r>
          </a:p>
          <a:p>
            <a:endParaRPr lang="en-US" sz="1600" dirty="0"/>
          </a:p>
        </p:txBody>
      </p:sp>
    </p:spTree>
    <p:extLst>
      <p:ext uri="{BB962C8B-B14F-4D97-AF65-F5344CB8AC3E}">
        <p14:creationId xmlns:p14="http://schemas.microsoft.com/office/powerpoint/2010/main" val="3736764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7457-E9C1-55D7-4439-4A7815A111D6}"/>
              </a:ext>
            </a:extLst>
          </p:cNvPr>
          <p:cNvSpPr>
            <a:spLocks noGrp="1"/>
          </p:cNvSpPr>
          <p:nvPr>
            <p:ph type="title"/>
          </p:nvPr>
        </p:nvSpPr>
        <p:spPr/>
        <p:txBody>
          <a:bodyPr/>
          <a:lstStyle/>
          <a:p>
            <a:r>
              <a:rPr lang="en-US" b="1" dirty="0"/>
              <a:t>SYSTEM ARCHITECTURE OVERVIEW</a:t>
            </a:r>
          </a:p>
        </p:txBody>
      </p:sp>
      <p:sp>
        <p:nvSpPr>
          <p:cNvPr id="7" name="Content Placeholder 6">
            <a:extLst>
              <a:ext uri="{FF2B5EF4-FFF2-40B4-BE49-F238E27FC236}">
                <a16:creationId xmlns:a16="http://schemas.microsoft.com/office/drawing/2014/main" id="{13AFE49E-F12E-0A91-6CFF-6603BEF50F5E}"/>
              </a:ext>
            </a:extLst>
          </p:cNvPr>
          <p:cNvSpPr>
            <a:spLocks noGrp="1"/>
          </p:cNvSpPr>
          <p:nvPr>
            <p:ph sz="half" idx="1"/>
          </p:nvPr>
        </p:nvSpPr>
        <p:spPr>
          <a:xfrm>
            <a:off x="838200" y="1422400"/>
            <a:ext cx="5181600" cy="5283199"/>
          </a:xfrm>
        </p:spPr>
        <p:txBody>
          <a:bodyPr>
            <a:normAutofit fontScale="92500" lnSpcReduction="20000"/>
          </a:bodyPr>
          <a:lstStyle/>
          <a:p>
            <a:pPr>
              <a:buNone/>
            </a:pPr>
            <a:r>
              <a:rPr lang="en-US" sz="1700" b="1" dirty="0"/>
              <a:t>High-Level Architecture Overview</a:t>
            </a:r>
          </a:p>
          <a:p>
            <a:pPr>
              <a:buNone/>
            </a:pPr>
            <a:r>
              <a:rPr lang="en-US" sz="1700" b="1" dirty="0"/>
              <a:t>End-to-End Pipeline</a:t>
            </a:r>
            <a:endParaRPr lang="en-US" sz="1700" dirty="0"/>
          </a:p>
          <a:p>
            <a:pPr>
              <a:buFont typeface="Arial" panose="020B0604020202020204" pitchFamily="34" charset="0"/>
              <a:buChar char="•"/>
            </a:pPr>
            <a:r>
              <a:rPr lang="en-US" sz="1700" dirty="0"/>
              <a:t>External attacker generates malicious network traffic</a:t>
            </a:r>
          </a:p>
          <a:p>
            <a:pPr>
              <a:buFont typeface="Arial" panose="020B0604020202020204" pitchFamily="34" charset="0"/>
              <a:buChar char="•"/>
            </a:pPr>
            <a:r>
              <a:rPr lang="en-US" sz="1700" dirty="0"/>
              <a:t>Target system runs Suricata IDS</a:t>
            </a:r>
          </a:p>
          <a:p>
            <a:pPr>
              <a:buFont typeface="Arial" panose="020B0604020202020204" pitchFamily="34" charset="0"/>
              <a:buChar char="•"/>
            </a:pPr>
            <a:r>
              <a:rPr lang="en-US" sz="1700" dirty="0"/>
              <a:t>Alerts are distributed to multiple detector nodes</a:t>
            </a:r>
          </a:p>
          <a:p>
            <a:pPr>
              <a:buFont typeface="Arial" panose="020B0604020202020204" pitchFamily="34" charset="0"/>
              <a:buChar char="•"/>
            </a:pPr>
            <a:r>
              <a:rPr lang="en-US" sz="1700" dirty="0"/>
              <a:t>Detectors independently analyze and vote</a:t>
            </a:r>
          </a:p>
          <a:p>
            <a:pPr>
              <a:buFont typeface="Arial" panose="020B0604020202020204" pitchFamily="34" charset="0"/>
              <a:buChar char="•"/>
            </a:pPr>
            <a:r>
              <a:rPr lang="en-US" sz="1700" dirty="0"/>
              <a:t>A coordinator aggregates votes and reaches consensus</a:t>
            </a:r>
          </a:p>
          <a:p>
            <a:pPr>
              <a:buFont typeface="Arial" panose="020B0604020202020204" pitchFamily="34" charset="0"/>
              <a:buChar char="•"/>
            </a:pPr>
            <a:r>
              <a:rPr lang="en-US" sz="1700" dirty="0"/>
              <a:t>Final intrusion decision is produced</a:t>
            </a:r>
          </a:p>
          <a:p>
            <a:pPr>
              <a:buNone/>
            </a:pPr>
            <a:r>
              <a:rPr lang="en-US" sz="1700" b="1" dirty="0"/>
              <a:t>Architecture Components</a:t>
            </a:r>
          </a:p>
          <a:p>
            <a:pPr>
              <a:buNone/>
            </a:pPr>
            <a:r>
              <a:rPr lang="en-US" sz="1700" b="1" dirty="0"/>
              <a:t>1. Attacker</a:t>
            </a:r>
          </a:p>
          <a:p>
            <a:pPr>
              <a:buFont typeface="Arial" panose="020B0604020202020204" pitchFamily="34" charset="0"/>
              <a:buChar char="•"/>
            </a:pPr>
            <a:r>
              <a:rPr lang="en-US" sz="1700" dirty="0"/>
              <a:t>Kali Linux machine</a:t>
            </a:r>
          </a:p>
          <a:p>
            <a:pPr>
              <a:buFont typeface="Arial" panose="020B0604020202020204" pitchFamily="34" charset="0"/>
              <a:buChar char="•"/>
            </a:pPr>
            <a:r>
              <a:rPr lang="en-US" sz="1700" dirty="0"/>
              <a:t>Generates real attacks:</a:t>
            </a:r>
          </a:p>
          <a:p>
            <a:pPr marL="742950" lvl="1" indent="-285750">
              <a:buFont typeface="Arial" panose="020B0604020202020204" pitchFamily="34" charset="0"/>
              <a:buChar char="•"/>
            </a:pPr>
            <a:r>
              <a:rPr lang="en-US" sz="1700" dirty="0"/>
              <a:t>Port scans</a:t>
            </a:r>
          </a:p>
          <a:p>
            <a:pPr marL="742950" lvl="1" indent="-285750">
              <a:buFont typeface="Arial" panose="020B0604020202020204" pitchFamily="34" charset="0"/>
              <a:buChar char="•"/>
            </a:pPr>
            <a:r>
              <a:rPr lang="en-US" sz="1700" dirty="0"/>
              <a:t>SSH brute force</a:t>
            </a:r>
          </a:p>
          <a:p>
            <a:pPr marL="742950" lvl="1" indent="-285750">
              <a:buFont typeface="Arial" panose="020B0604020202020204" pitchFamily="34" charset="0"/>
              <a:buChar char="•"/>
            </a:pPr>
            <a:r>
              <a:rPr lang="en-US" sz="1700" dirty="0"/>
              <a:t>SYN flood</a:t>
            </a:r>
          </a:p>
          <a:p>
            <a:pPr marL="742950" lvl="1" indent="-285750">
              <a:buFont typeface="Arial" panose="020B0604020202020204" pitchFamily="34" charset="0"/>
              <a:buChar char="•"/>
            </a:pPr>
            <a:r>
              <a:rPr lang="en-US" sz="1700" dirty="0"/>
              <a:t>Sequential scans</a:t>
            </a:r>
          </a:p>
          <a:p>
            <a:pPr>
              <a:buFont typeface="Arial" panose="020B0604020202020204" pitchFamily="34" charset="0"/>
              <a:buChar char="•"/>
            </a:pPr>
            <a:r>
              <a:rPr lang="en-US" sz="1700" dirty="0"/>
              <a:t>Simulates realistic adversarial behavior</a:t>
            </a:r>
          </a:p>
          <a:p>
            <a:endParaRPr lang="en-US" sz="1600" dirty="0"/>
          </a:p>
        </p:txBody>
      </p:sp>
      <p:sp>
        <p:nvSpPr>
          <p:cNvPr id="8" name="Content Placeholder 7">
            <a:extLst>
              <a:ext uri="{FF2B5EF4-FFF2-40B4-BE49-F238E27FC236}">
                <a16:creationId xmlns:a16="http://schemas.microsoft.com/office/drawing/2014/main" id="{2A24C480-7917-162D-7E68-E55264D1C748}"/>
              </a:ext>
            </a:extLst>
          </p:cNvPr>
          <p:cNvSpPr>
            <a:spLocks noGrp="1"/>
          </p:cNvSpPr>
          <p:nvPr>
            <p:ph sz="half" idx="2"/>
          </p:nvPr>
        </p:nvSpPr>
        <p:spPr>
          <a:xfrm>
            <a:off x="6172200" y="1422400"/>
            <a:ext cx="5181600" cy="5369169"/>
          </a:xfrm>
        </p:spPr>
        <p:txBody>
          <a:bodyPr>
            <a:normAutofit fontScale="92500" lnSpcReduction="20000"/>
          </a:bodyPr>
          <a:lstStyle/>
          <a:p>
            <a:pPr>
              <a:buNone/>
            </a:pPr>
            <a:r>
              <a:rPr lang="en-US" sz="1500" b="1" dirty="0"/>
              <a:t>2. Target Node</a:t>
            </a:r>
          </a:p>
          <a:p>
            <a:pPr>
              <a:buFont typeface="Arial" panose="020B0604020202020204" pitchFamily="34" charset="0"/>
              <a:buChar char="•"/>
            </a:pPr>
            <a:r>
              <a:rPr lang="en-US" sz="1500" dirty="0"/>
              <a:t>Raspberry Pi running </a:t>
            </a:r>
            <a:r>
              <a:rPr lang="en-US" sz="1500" b="1" dirty="0"/>
              <a:t>Suricata IDS</a:t>
            </a:r>
            <a:endParaRPr lang="en-US" sz="1500" dirty="0"/>
          </a:p>
          <a:p>
            <a:pPr>
              <a:buFont typeface="Arial" panose="020B0604020202020204" pitchFamily="34" charset="0"/>
              <a:buChar char="•"/>
            </a:pPr>
            <a:r>
              <a:rPr lang="en-US" sz="1500" dirty="0"/>
              <a:t>Observes live network traffic</a:t>
            </a:r>
          </a:p>
          <a:p>
            <a:pPr>
              <a:buFont typeface="Arial" panose="020B0604020202020204" pitchFamily="34" charset="0"/>
              <a:buChar char="•"/>
            </a:pPr>
            <a:r>
              <a:rPr lang="en-US" sz="1500" dirty="0"/>
              <a:t>Generates raw alerts in real time</a:t>
            </a:r>
          </a:p>
          <a:p>
            <a:pPr>
              <a:buFont typeface="Arial" panose="020B0604020202020204" pitchFamily="34" charset="0"/>
              <a:buChar char="•"/>
            </a:pPr>
            <a:r>
              <a:rPr lang="en-US" sz="1500" dirty="0"/>
              <a:t>No trust placed in a single alert</a:t>
            </a:r>
          </a:p>
          <a:p>
            <a:pPr>
              <a:buFont typeface="Arial" panose="020B0604020202020204" pitchFamily="34" charset="0"/>
              <a:buChar char="•"/>
            </a:pPr>
            <a:r>
              <a:rPr lang="en-US" sz="1500" dirty="0"/>
              <a:t>3 Detector Nodes</a:t>
            </a:r>
          </a:p>
          <a:p>
            <a:pPr>
              <a:buFont typeface="Arial" panose="020B0604020202020204" pitchFamily="34" charset="0"/>
              <a:buChar char="•"/>
            </a:pPr>
            <a:r>
              <a:rPr lang="en-US" sz="1500" dirty="0"/>
              <a:t>RP6 → Honest detector</a:t>
            </a:r>
          </a:p>
          <a:p>
            <a:pPr>
              <a:buFont typeface="Arial" panose="020B0604020202020204" pitchFamily="34" charset="0"/>
              <a:buChar char="•"/>
            </a:pPr>
            <a:r>
              <a:rPr lang="en-US" sz="1500" dirty="0"/>
              <a:t>RP8 → Honest detector</a:t>
            </a:r>
          </a:p>
          <a:p>
            <a:pPr>
              <a:buFont typeface="Arial" panose="020B0604020202020204" pitchFamily="34" charset="0"/>
              <a:buChar char="•"/>
            </a:pPr>
            <a:r>
              <a:rPr lang="en-US" sz="1500" dirty="0"/>
              <a:t>RP8-V → Byzantine (malicious) detector</a:t>
            </a:r>
          </a:p>
          <a:p>
            <a:pPr>
              <a:buFont typeface="Arial" panose="020B0604020202020204" pitchFamily="34" charset="0"/>
              <a:buChar char="•"/>
            </a:pPr>
            <a:r>
              <a:rPr lang="en-US" sz="1500" dirty="0"/>
              <a:t>Each detector:</a:t>
            </a:r>
          </a:p>
          <a:p>
            <a:pPr>
              <a:buFont typeface="Arial" panose="020B0604020202020204" pitchFamily="34" charset="0"/>
              <a:buChar char="•"/>
            </a:pPr>
            <a:r>
              <a:rPr lang="en-US" sz="1500" dirty="0"/>
              <a:t>Receives the same alert</a:t>
            </a:r>
          </a:p>
          <a:p>
            <a:pPr>
              <a:buFont typeface="Arial" panose="020B0604020202020204" pitchFamily="34" charset="0"/>
              <a:buChar char="•"/>
            </a:pPr>
            <a:r>
              <a:rPr lang="en-US" sz="1500" dirty="0"/>
              <a:t>Performs independent analysis</a:t>
            </a:r>
          </a:p>
          <a:p>
            <a:pPr>
              <a:buFont typeface="Arial" panose="020B0604020202020204" pitchFamily="34" charset="0"/>
              <a:buChar char="•"/>
            </a:pPr>
            <a:r>
              <a:rPr lang="en-US" sz="1500" dirty="0"/>
              <a:t>Submits its own classification (vote)</a:t>
            </a:r>
          </a:p>
          <a:p>
            <a:pPr>
              <a:buNone/>
            </a:pPr>
            <a:r>
              <a:rPr lang="en-US" sz="1500" b="1" dirty="0"/>
              <a:t>3.Coordinator Node</a:t>
            </a:r>
          </a:p>
          <a:p>
            <a:pPr>
              <a:buFont typeface="Arial" panose="020B0604020202020204" pitchFamily="34" charset="0"/>
              <a:buChar char="•"/>
            </a:pPr>
            <a:r>
              <a:rPr lang="en-US" sz="1500" dirty="0"/>
              <a:t>RP0 (Consensus Arbiter)</a:t>
            </a:r>
          </a:p>
          <a:p>
            <a:pPr>
              <a:buFont typeface="Arial" panose="020B0604020202020204" pitchFamily="34" charset="0"/>
              <a:buChar char="•"/>
            </a:pPr>
            <a:r>
              <a:rPr lang="en-US" sz="1500" dirty="0"/>
              <a:t>Responsibilities:</a:t>
            </a:r>
          </a:p>
          <a:p>
            <a:pPr marL="742950" lvl="1" indent="-285750">
              <a:buFont typeface="Arial" panose="020B0604020202020204" pitchFamily="34" charset="0"/>
              <a:buChar char="•"/>
            </a:pPr>
            <a:r>
              <a:rPr lang="en-US" sz="1500" dirty="0"/>
              <a:t>Collect votes from all detectors</a:t>
            </a:r>
          </a:p>
          <a:p>
            <a:pPr marL="742950" lvl="1" indent="-285750">
              <a:buFont typeface="Arial" panose="020B0604020202020204" pitchFamily="34" charset="0"/>
              <a:buChar char="•"/>
            </a:pPr>
            <a:r>
              <a:rPr lang="en-US" sz="1500" dirty="0"/>
              <a:t>Apply Byzantine-fault-tolerant threshold</a:t>
            </a:r>
          </a:p>
          <a:p>
            <a:pPr marL="742950" lvl="1" indent="-285750">
              <a:buFont typeface="Arial" panose="020B0604020202020204" pitchFamily="34" charset="0"/>
              <a:buChar char="•"/>
            </a:pPr>
            <a:r>
              <a:rPr lang="en-US" sz="1500" dirty="0"/>
              <a:t>Resolve conflicting reports</a:t>
            </a:r>
          </a:p>
          <a:p>
            <a:pPr marL="742950" lvl="1" indent="-285750">
              <a:buFont typeface="Arial" panose="020B0604020202020204" pitchFamily="34" charset="0"/>
              <a:buChar char="•"/>
            </a:pPr>
            <a:r>
              <a:rPr lang="en-US" sz="1500" dirty="0"/>
              <a:t>Produce final intrusion decision</a:t>
            </a:r>
          </a:p>
          <a:p>
            <a:pPr>
              <a:buFont typeface="Arial" panose="020B0604020202020204" pitchFamily="34" charset="0"/>
              <a:buChar char="•"/>
            </a:pPr>
            <a:endParaRPr lang="en-US" sz="1500" dirty="0"/>
          </a:p>
        </p:txBody>
      </p:sp>
    </p:spTree>
    <p:extLst>
      <p:ext uri="{BB962C8B-B14F-4D97-AF65-F5344CB8AC3E}">
        <p14:creationId xmlns:p14="http://schemas.microsoft.com/office/powerpoint/2010/main" val="407781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1EB2-7391-F85E-508E-02D6F9AD1AC5}"/>
              </a:ext>
            </a:extLst>
          </p:cNvPr>
          <p:cNvSpPr>
            <a:spLocks noGrp="1"/>
          </p:cNvSpPr>
          <p:nvPr>
            <p:ph type="title"/>
          </p:nvPr>
        </p:nvSpPr>
        <p:spPr>
          <a:xfrm>
            <a:off x="218831" y="101601"/>
            <a:ext cx="11134969" cy="1047262"/>
          </a:xfrm>
        </p:spPr>
        <p:txBody>
          <a:bodyPr>
            <a:normAutofit/>
          </a:bodyPr>
          <a:lstStyle/>
          <a:p>
            <a:r>
              <a:rPr lang="en-US" sz="4000" b="1" dirty="0"/>
              <a:t>Attack to Consensus: End-to-End Detection Workflow</a:t>
            </a:r>
          </a:p>
        </p:txBody>
      </p:sp>
      <p:sp>
        <p:nvSpPr>
          <p:cNvPr id="3" name="Content Placeholder 2">
            <a:extLst>
              <a:ext uri="{FF2B5EF4-FFF2-40B4-BE49-F238E27FC236}">
                <a16:creationId xmlns:a16="http://schemas.microsoft.com/office/drawing/2014/main" id="{8FB81A41-753B-0A75-B7F9-B6FA5345416F}"/>
              </a:ext>
            </a:extLst>
          </p:cNvPr>
          <p:cNvSpPr>
            <a:spLocks noGrp="1"/>
          </p:cNvSpPr>
          <p:nvPr>
            <p:ph sz="half" idx="1"/>
          </p:nvPr>
        </p:nvSpPr>
        <p:spPr>
          <a:xfrm>
            <a:off x="838200" y="1344246"/>
            <a:ext cx="5181600" cy="5298831"/>
          </a:xfrm>
        </p:spPr>
        <p:txBody>
          <a:bodyPr>
            <a:normAutofit fontScale="85000" lnSpcReduction="20000"/>
          </a:bodyPr>
          <a:lstStyle/>
          <a:p>
            <a:pPr>
              <a:buNone/>
            </a:pPr>
            <a:r>
              <a:rPr lang="en-US" b="1" dirty="0"/>
              <a:t>End-to-End Detection Pipeline</a:t>
            </a:r>
          </a:p>
          <a:p>
            <a:pPr>
              <a:buFont typeface="+mj-lt"/>
              <a:buAutoNum type="arabicPeriod"/>
            </a:pPr>
            <a:r>
              <a:rPr lang="en-US" b="1" dirty="0"/>
              <a:t>Attack Initiation</a:t>
            </a:r>
            <a:endParaRPr lang="en-US" dirty="0"/>
          </a:p>
          <a:p>
            <a:pPr marL="742950" lvl="1" indent="-285750">
              <a:buFont typeface="+mj-lt"/>
              <a:buAutoNum type="arabicPeriod"/>
            </a:pPr>
            <a:r>
              <a:rPr lang="en-US" dirty="0"/>
              <a:t>External attacker launches a network attack</a:t>
            </a:r>
          </a:p>
          <a:p>
            <a:pPr marL="742950" lvl="1" indent="-285750">
              <a:buFont typeface="+mj-lt"/>
              <a:buAutoNum type="arabicPeriod"/>
            </a:pPr>
            <a:r>
              <a:rPr lang="en-US" dirty="0"/>
              <a:t>Examples: Port scan, SSH brute force, SYN flood</a:t>
            </a:r>
          </a:p>
          <a:p>
            <a:pPr>
              <a:buFont typeface="+mj-lt"/>
              <a:buAutoNum type="arabicPeriod"/>
            </a:pPr>
            <a:r>
              <a:rPr lang="en-US" b="1" dirty="0"/>
              <a:t>Local Detection (Suricata IDS)</a:t>
            </a:r>
            <a:endParaRPr lang="en-US" dirty="0"/>
          </a:p>
          <a:p>
            <a:pPr marL="742950" lvl="1" indent="-285750">
              <a:buFont typeface="+mj-lt"/>
              <a:buAutoNum type="arabicPeriod"/>
            </a:pPr>
            <a:r>
              <a:rPr lang="en-US" dirty="0"/>
              <a:t>Target Raspberry Pi analyzes live network traffic</a:t>
            </a:r>
          </a:p>
          <a:p>
            <a:pPr marL="742950" lvl="1" indent="-285750">
              <a:buFont typeface="+mj-lt"/>
              <a:buAutoNum type="arabicPeriod"/>
            </a:pPr>
            <a:r>
              <a:rPr lang="en-US" dirty="0"/>
              <a:t>Suricata generates structured alerts (JSON format)</a:t>
            </a:r>
          </a:p>
          <a:p>
            <a:pPr marL="742950" lvl="1" indent="-285750">
              <a:buFont typeface="+mj-lt"/>
              <a:buAutoNum type="arabicPeriod"/>
            </a:pPr>
            <a:r>
              <a:rPr lang="en-US" dirty="0"/>
              <a:t>Detection is signature-based and real-time</a:t>
            </a:r>
          </a:p>
          <a:p>
            <a:pPr>
              <a:buFont typeface="+mj-lt"/>
              <a:buAutoNum type="arabicPeriod"/>
            </a:pPr>
            <a:r>
              <a:rPr lang="en-US" b="1" dirty="0"/>
              <a:t>Alert Distribution</a:t>
            </a:r>
            <a:endParaRPr lang="en-US" dirty="0"/>
          </a:p>
          <a:p>
            <a:pPr marL="742950" lvl="1" indent="-285750">
              <a:buFont typeface="+mj-lt"/>
              <a:buAutoNum type="arabicPeriod"/>
            </a:pPr>
            <a:r>
              <a:rPr lang="en-US" dirty="0"/>
              <a:t>Alerts are broadcast via UDP syslog</a:t>
            </a:r>
          </a:p>
          <a:p>
            <a:pPr marL="742950" lvl="1" indent="-285750">
              <a:buFont typeface="+mj-lt"/>
              <a:buAutoNum type="arabicPeriod"/>
            </a:pPr>
            <a:r>
              <a:rPr lang="en-US" dirty="0"/>
              <a:t>Delivered simultaneously to all detector nodes</a:t>
            </a:r>
          </a:p>
          <a:p>
            <a:pPr marL="742950" lvl="1" indent="-285750">
              <a:buFont typeface="+mj-lt"/>
              <a:buAutoNum type="arabicPeriod"/>
            </a:pPr>
            <a:r>
              <a:rPr lang="en-US" dirty="0"/>
              <a:t>No detector depends on another detector’s output</a:t>
            </a:r>
          </a:p>
          <a:p>
            <a:endParaRPr lang="en-US" sz="1400" dirty="0"/>
          </a:p>
        </p:txBody>
      </p:sp>
      <p:sp>
        <p:nvSpPr>
          <p:cNvPr id="4" name="Content Placeholder 3">
            <a:extLst>
              <a:ext uri="{FF2B5EF4-FFF2-40B4-BE49-F238E27FC236}">
                <a16:creationId xmlns:a16="http://schemas.microsoft.com/office/drawing/2014/main" id="{97BA34EA-E18E-F71F-1299-CB94661D1D3E}"/>
              </a:ext>
            </a:extLst>
          </p:cNvPr>
          <p:cNvSpPr>
            <a:spLocks noGrp="1"/>
          </p:cNvSpPr>
          <p:nvPr>
            <p:ph sz="half" idx="2"/>
          </p:nvPr>
        </p:nvSpPr>
        <p:spPr>
          <a:xfrm>
            <a:off x="6172200" y="1344246"/>
            <a:ext cx="5181600" cy="5298831"/>
          </a:xfrm>
        </p:spPr>
        <p:txBody>
          <a:bodyPr>
            <a:normAutofit fontScale="85000" lnSpcReduction="20000"/>
          </a:bodyPr>
          <a:lstStyle/>
          <a:p>
            <a:pPr marL="0" indent="0">
              <a:buNone/>
            </a:pPr>
            <a:r>
              <a:rPr lang="en-US" b="1" dirty="0"/>
              <a:t>4.Independent Detector Voting</a:t>
            </a:r>
            <a:endParaRPr lang="en-US" dirty="0"/>
          </a:p>
          <a:p>
            <a:pPr marL="742950" lvl="1" indent="-285750">
              <a:buFont typeface="+mj-lt"/>
              <a:buAutoNum type="arabicPeriod"/>
            </a:pPr>
            <a:r>
              <a:rPr lang="en-US" dirty="0"/>
              <a:t>Each detector independently analyzes the same alert</a:t>
            </a:r>
          </a:p>
          <a:p>
            <a:pPr marL="742950" lvl="1" indent="-285750">
              <a:buFont typeface="+mj-lt"/>
              <a:buAutoNum type="arabicPeriod"/>
            </a:pPr>
            <a:r>
              <a:rPr lang="en-US" dirty="0"/>
              <a:t>Each node submits its own decision (vote)</a:t>
            </a:r>
          </a:p>
          <a:p>
            <a:pPr marL="1143000" lvl="2" indent="-228600">
              <a:buFont typeface="+mj-lt"/>
              <a:buAutoNum type="arabicPeriod"/>
            </a:pPr>
            <a:r>
              <a:rPr lang="en-US" dirty="0"/>
              <a:t>Attack type</a:t>
            </a:r>
          </a:p>
          <a:p>
            <a:pPr marL="1143000" lvl="2" indent="-228600">
              <a:buFont typeface="+mj-lt"/>
              <a:buAutoNum type="arabicPeriod"/>
            </a:pPr>
            <a:r>
              <a:rPr lang="en-US" dirty="0"/>
              <a:t>Confidence level</a:t>
            </a:r>
          </a:p>
          <a:p>
            <a:pPr marL="742950" lvl="1" indent="-285750">
              <a:buFont typeface="+mj-lt"/>
              <a:buAutoNum type="arabicPeriod"/>
            </a:pPr>
            <a:r>
              <a:rPr lang="en-US" dirty="0"/>
              <a:t>Byzantine node may lie or misclassify intentionally</a:t>
            </a:r>
          </a:p>
          <a:p>
            <a:pPr marL="0" indent="0">
              <a:buNone/>
            </a:pPr>
            <a:r>
              <a:rPr lang="en-US" b="1" dirty="0"/>
              <a:t>5.Consensus Aggregation</a:t>
            </a:r>
            <a:endParaRPr lang="en-US" dirty="0"/>
          </a:p>
          <a:p>
            <a:pPr marL="742950" lvl="1" indent="-285750">
              <a:buFont typeface="+mj-lt"/>
              <a:buAutoNum type="arabicPeriod"/>
            </a:pPr>
            <a:r>
              <a:rPr lang="en-US" dirty="0"/>
              <a:t>Coordinator collects all detector votes</a:t>
            </a:r>
          </a:p>
          <a:p>
            <a:pPr marL="742950" lvl="1" indent="-285750">
              <a:buFont typeface="+mj-lt"/>
              <a:buAutoNum type="arabicPeriod"/>
            </a:pPr>
            <a:r>
              <a:rPr lang="en-US" dirty="0"/>
              <a:t>Votes are grouped by attack type</a:t>
            </a:r>
          </a:p>
          <a:p>
            <a:pPr marL="742950" lvl="1" indent="-285750">
              <a:buFont typeface="+mj-lt"/>
              <a:buAutoNum type="arabicPeriod"/>
            </a:pPr>
            <a:r>
              <a:rPr lang="en-US" dirty="0"/>
              <a:t>Majority threshold applied (≥ 66.7%)</a:t>
            </a:r>
          </a:p>
          <a:p>
            <a:pPr marL="0" indent="0">
              <a:buNone/>
            </a:pPr>
            <a:r>
              <a:rPr lang="en-US" b="1" dirty="0"/>
              <a:t>6.Final Decision</a:t>
            </a:r>
            <a:endParaRPr lang="en-US" dirty="0"/>
          </a:p>
          <a:p>
            <a:pPr marL="742950" lvl="1" indent="-285750">
              <a:buFont typeface="+mj-lt"/>
              <a:buAutoNum type="arabicPeriod"/>
            </a:pPr>
            <a:r>
              <a:rPr lang="en-US" dirty="0"/>
              <a:t>If threshold is met → consensus achieved</a:t>
            </a:r>
          </a:p>
          <a:p>
            <a:pPr marL="742950" lvl="1" indent="-285750">
              <a:buFont typeface="+mj-lt"/>
              <a:buAutoNum type="arabicPeriod"/>
            </a:pPr>
            <a:r>
              <a:rPr lang="en-US" dirty="0"/>
              <a:t>Malicious or lying nodes are outvoted</a:t>
            </a:r>
          </a:p>
          <a:p>
            <a:pPr marL="742950" lvl="1" indent="-285750">
              <a:buFont typeface="+mj-lt"/>
              <a:buAutoNum type="arabicPeriod"/>
            </a:pPr>
            <a:r>
              <a:rPr lang="en-US" dirty="0"/>
              <a:t>Final alert is confirmed and logged</a:t>
            </a:r>
          </a:p>
          <a:p>
            <a:endParaRPr lang="en-US" sz="1400" dirty="0"/>
          </a:p>
        </p:txBody>
      </p:sp>
    </p:spTree>
    <p:extLst>
      <p:ext uri="{BB962C8B-B14F-4D97-AF65-F5344CB8AC3E}">
        <p14:creationId xmlns:p14="http://schemas.microsoft.com/office/powerpoint/2010/main" val="3066847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FCF3-1879-C2F4-F2D2-A83CE476FF4F}"/>
              </a:ext>
            </a:extLst>
          </p:cNvPr>
          <p:cNvSpPr>
            <a:spLocks noGrp="1"/>
          </p:cNvSpPr>
          <p:nvPr>
            <p:ph type="title"/>
          </p:nvPr>
        </p:nvSpPr>
        <p:spPr>
          <a:xfrm>
            <a:off x="838200" y="78155"/>
            <a:ext cx="10515600" cy="1078522"/>
          </a:xfrm>
        </p:spPr>
        <p:txBody>
          <a:bodyPr>
            <a:normAutofit/>
          </a:bodyPr>
          <a:lstStyle/>
          <a:p>
            <a:r>
              <a:rPr lang="en-US" sz="4000" b="1" dirty="0"/>
              <a:t>Honest Detector vs Byzantine Detector Behavior</a:t>
            </a:r>
          </a:p>
        </p:txBody>
      </p:sp>
      <p:sp>
        <p:nvSpPr>
          <p:cNvPr id="3" name="Content Placeholder 2">
            <a:extLst>
              <a:ext uri="{FF2B5EF4-FFF2-40B4-BE49-F238E27FC236}">
                <a16:creationId xmlns:a16="http://schemas.microsoft.com/office/drawing/2014/main" id="{D3D88B35-8D29-BB75-1B22-8F4DBEADF933}"/>
              </a:ext>
            </a:extLst>
          </p:cNvPr>
          <p:cNvSpPr>
            <a:spLocks noGrp="1"/>
          </p:cNvSpPr>
          <p:nvPr>
            <p:ph sz="half" idx="1"/>
          </p:nvPr>
        </p:nvSpPr>
        <p:spPr>
          <a:xfrm>
            <a:off x="838200" y="1273908"/>
            <a:ext cx="5181600" cy="5505937"/>
          </a:xfrm>
        </p:spPr>
        <p:txBody>
          <a:bodyPr>
            <a:normAutofit fontScale="70000" lnSpcReduction="20000"/>
          </a:bodyPr>
          <a:lstStyle/>
          <a:p>
            <a:pPr>
              <a:buNone/>
            </a:pPr>
            <a:r>
              <a:rPr lang="en-US" b="1" dirty="0"/>
              <a:t>Honest Detector Node (RP6 / RP8)</a:t>
            </a:r>
          </a:p>
          <a:p>
            <a:pPr>
              <a:buFont typeface="Arial" panose="020B0604020202020204" pitchFamily="34" charset="0"/>
              <a:buChar char="•"/>
            </a:pPr>
            <a:r>
              <a:rPr lang="en-US" dirty="0"/>
              <a:t>Analyzes the alert exactly as received</a:t>
            </a:r>
          </a:p>
          <a:p>
            <a:pPr>
              <a:buFont typeface="Arial" panose="020B0604020202020204" pitchFamily="34" charset="0"/>
              <a:buChar char="•"/>
            </a:pPr>
            <a:r>
              <a:rPr lang="en-US" dirty="0"/>
              <a:t>Reports the </a:t>
            </a:r>
            <a:r>
              <a:rPr lang="en-US" b="1" dirty="0"/>
              <a:t>true attack type</a:t>
            </a:r>
            <a:endParaRPr lang="en-US" dirty="0"/>
          </a:p>
          <a:p>
            <a:pPr>
              <a:buFont typeface="Arial" panose="020B0604020202020204" pitchFamily="34" charset="0"/>
              <a:buChar char="•"/>
            </a:pPr>
            <a:r>
              <a:rPr lang="en-US" dirty="0"/>
              <a:t>Sends </a:t>
            </a:r>
            <a:r>
              <a:rPr lang="en-US" b="1" dirty="0"/>
              <a:t>consistent alerts</a:t>
            </a:r>
            <a:r>
              <a:rPr lang="en-US" dirty="0"/>
              <a:t> to the coordinator</a:t>
            </a:r>
          </a:p>
          <a:p>
            <a:pPr>
              <a:buFont typeface="Arial" panose="020B0604020202020204" pitchFamily="34" charset="0"/>
              <a:buChar char="•"/>
            </a:pPr>
            <a:r>
              <a:rPr lang="en-US" dirty="0"/>
              <a:t>Behavior is:</a:t>
            </a:r>
          </a:p>
          <a:p>
            <a:pPr marL="742950" lvl="1" indent="-285750">
              <a:buFont typeface="Arial" panose="020B0604020202020204" pitchFamily="34" charset="0"/>
              <a:buChar char="•"/>
            </a:pPr>
            <a:r>
              <a:rPr lang="en-US" dirty="0"/>
              <a:t>Deterministic</a:t>
            </a:r>
          </a:p>
          <a:p>
            <a:pPr marL="742950" lvl="1" indent="-285750">
              <a:buFont typeface="Arial" panose="020B0604020202020204" pitchFamily="34" charset="0"/>
              <a:buChar char="•"/>
            </a:pPr>
            <a:r>
              <a:rPr lang="en-US" dirty="0"/>
              <a:t>Repeatable</a:t>
            </a:r>
          </a:p>
          <a:p>
            <a:pPr marL="742950" lvl="1" indent="-285750">
              <a:buFont typeface="Arial" panose="020B0604020202020204" pitchFamily="34" charset="0"/>
              <a:buChar char="•"/>
            </a:pPr>
            <a:r>
              <a:rPr lang="en-US" dirty="0"/>
              <a:t>Aligned with actual traffic</a:t>
            </a:r>
          </a:p>
          <a:p>
            <a:pPr>
              <a:buNone/>
            </a:pPr>
            <a:r>
              <a:rPr lang="en-US" b="1" dirty="0"/>
              <a:t>Example Behavior</a:t>
            </a:r>
            <a:endParaRPr lang="en-US" dirty="0"/>
          </a:p>
          <a:p>
            <a:pPr>
              <a:buFont typeface="Arial" panose="020B0604020202020204" pitchFamily="34" charset="0"/>
              <a:buChar char="•"/>
            </a:pPr>
            <a:r>
              <a:rPr lang="en-US" dirty="0"/>
              <a:t>Port scan → reports </a:t>
            </a:r>
            <a:r>
              <a:rPr lang="en-US" i="1" dirty="0"/>
              <a:t>Port Scan</a:t>
            </a:r>
            <a:endParaRPr lang="en-US" dirty="0"/>
          </a:p>
          <a:p>
            <a:pPr>
              <a:buFont typeface="Arial" panose="020B0604020202020204" pitchFamily="34" charset="0"/>
              <a:buChar char="•"/>
            </a:pPr>
            <a:r>
              <a:rPr lang="en-US" dirty="0"/>
              <a:t>SSH brute force → reports </a:t>
            </a:r>
            <a:r>
              <a:rPr lang="en-US" i="1" dirty="0"/>
              <a:t>SSH Brute Force</a:t>
            </a:r>
            <a:endParaRPr lang="en-US" dirty="0"/>
          </a:p>
          <a:p>
            <a:pPr>
              <a:buFont typeface="Arial" panose="020B0604020202020204" pitchFamily="34" charset="0"/>
              <a:buChar char="•"/>
            </a:pPr>
            <a:r>
              <a:rPr lang="en-US" dirty="0"/>
              <a:t>SYN flood → reports </a:t>
            </a:r>
            <a:r>
              <a:rPr lang="en-US" i="1" dirty="0"/>
              <a:t>Possible SYN Flood</a:t>
            </a:r>
            <a:endParaRPr lang="en-US" dirty="0"/>
          </a:p>
          <a:p>
            <a:pPr>
              <a:buNone/>
            </a:pPr>
            <a:r>
              <a:rPr lang="en-US" b="1" dirty="0"/>
              <a:t>Property</a:t>
            </a:r>
            <a:br>
              <a:rPr lang="en-US" dirty="0"/>
            </a:br>
            <a:r>
              <a:rPr lang="en-US" dirty="0"/>
              <a:t>✔ Accuracy</a:t>
            </a:r>
            <a:br>
              <a:rPr lang="en-US" dirty="0"/>
            </a:br>
            <a:r>
              <a:rPr lang="en-US" dirty="0"/>
              <a:t>✔ Consistency</a:t>
            </a:r>
            <a:br>
              <a:rPr lang="en-US" dirty="0"/>
            </a:br>
            <a:r>
              <a:rPr lang="en-US" dirty="0"/>
              <a:t>✔ Trustworthy behavior</a:t>
            </a:r>
          </a:p>
          <a:p>
            <a:endParaRPr lang="en-US" sz="1400" dirty="0"/>
          </a:p>
        </p:txBody>
      </p:sp>
      <p:sp>
        <p:nvSpPr>
          <p:cNvPr id="4" name="Content Placeholder 3">
            <a:extLst>
              <a:ext uri="{FF2B5EF4-FFF2-40B4-BE49-F238E27FC236}">
                <a16:creationId xmlns:a16="http://schemas.microsoft.com/office/drawing/2014/main" id="{45AB0D31-1E34-2C84-F9B1-C4BC8C821251}"/>
              </a:ext>
            </a:extLst>
          </p:cNvPr>
          <p:cNvSpPr>
            <a:spLocks noGrp="1"/>
          </p:cNvSpPr>
          <p:nvPr>
            <p:ph sz="half" idx="2"/>
          </p:nvPr>
        </p:nvSpPr>
        <p:spPr>
          <a:xfrm>
            <a:off x="6172200" y="1273908"/>
            <a:ext cx="5181600" cy="5505937"/>
          </a:xfrm>
        </p:spPr>
        <p:txBody>
          <a:bodyPr>
            <a:normAutofit fontScale="70000" lnSpcReduction="20000"/>
          </a:bodyPr>
          <a:lstStyle/>
          <a:p>
            <a:pPr>
              <a:buNone/>
            </a:pPr>
            <a:r>
              <a:rPr lang="en-US" b="1" dirty="0"/>
              <a:t>Byzantine Detector Node (RP8-Virtual)</a:t>
            </a:r>
          </a:p>
          <a:p>
            <a:pPr>
              <a:buFont typeface="Arial" panose="020B0604020202020204" pitchFamily="34" charset="0"/>
              <a:buChar char="•"/>
            </a:pPr>
            <a:r>
              <a:rPr lang="en-US" dirty="0"/>
              <a:t>Intentionally behaves </a:t>
            </a:r>
            <a:r>
              <a:rPr lang="en-US" b="1" dirty="0"/>
              <a:t>maliciously</a:t>
            </a:r>
            <a:endParaRPr lang="en-US" dirty="0"/>
          </a:p>
          <a:p>
            <a:pPr>
              <a:buFont typeface="Arial" panose="020B0604020202020204" pitchFamily="34" charset="0"/>
              <a:buChar char="•"/>
            </a:pPr>
            <a:r>
              <a:rPr lang="en-US" dirty="0"/>
              <a:t>May </a:t>
            </a:r>
            <a:r>
              <a:rPr lang="en-US" b="1" dirty="0"/>
              <a:t>lie</a:t>
            </a:r>
            <a:r>
              <a:rPr lang="en-US" dirty="0"/>
              <a:t>, </a:t>
            </a:r>
            <a:r>
              <a:rPr lang="en-US" b="1" dirty="0"/>
              <a:t>misclassify</a:t>
            </a:r>
            <a:r>
              <a:rPr lang="en-US" dirty="0"/>
              <a:t>, or </a:t>
            </a:r>
            <a:r>
              <a:rPr lang="en-US" b="1" dirty="0"/>
              <a:t>inject false alerts</a:t>
            </a:r>
            <a:endParaRPr lang="en-US" dirty="0"/>
          </a:p>
          <a:p>
            <a:pPr>
              <a:buFont typeface="Arial" panose="020B0604020202020204" pitchFamily="34" charset="0"/>
              <a:buChar char="•"/>
            </a:pPr>
            <a:r>
              <a:rPr lang="en-US" dirty="0"/>
              <a:t>Can send </a:t>
            </a:r>
            <a:r>
              <a:rPr lang="en-US" b="1" dirty="0"/>
              <a:t>different results at different times</a:t>
            </a:r>
            <a:endParaRPr lang="en-US" dirty="0"/>
          </a:p>
          <a:p>
            <a:pPr>
              <a:buFont typeface="Arial" panose="020B0604020202020204" pitchFamily="34" charset="0"/>
              <a:buChar char="•"/>
            </a:pPr>
            <a:r>
              <a:rPr lang="en-US" dirty="0"/>
              <a:t>Behavior is:</a:t>
            </a:r>
          </a:p>
          <a:p>
            <a:pPr marL="742950" lvl="1" indent="-285750">
              <a:buFont typeface="Arial" panose="020B0604020202020204" pitchFamily="34" charset="0"/>
              <a:buChar char="•"/>
            </a:pPr>
            <a:r>
              <a:rPr lang="en-US" dirty="0"/>
              <a:t>Arbitrary</a:t>
            </a:r>
          </a:p>
          <a:p>
            <a:pPr marL="742950" lvl="1" indent="-285750">
              <a:buFont typeface="Arial" panose="020B0604020202020204" pitchFamily="34" charset="0"/>
              <a:buChar char="•"/>
            </a:pPr>
            <a:r>
              <a:rPr lang="en-US" dirty="0"/>
              <a:t>Unpredictable</a:t>
            </a:r>
          </a:p>
          <a:p>
            <a:pPr marL="742950" lvl="1" indent="-285750">
              <a:buFont typeface="Arial" panose="020B0604020202020204" pitchFamily="34" charset="0"/>
              <a:buChar char="•"/>
            </a:pPr>
            <a:r>
              <a:rPr lang="en-US" dirty="0"/>
              <a:t>Adversarial</a:t>
            </a:r>
          </a:p>
          <a:p>
            <a:pPr>
              <a:buNone/>
            </a:pPr>
            <a:r>
              <a:rPr lang="en-US" b="1" dirty="0"/>
              <a:t>Example Behavior</a:t>
            </a:r>
            <a:endParaRPr lang="en-US" dirty="0"/>
          </a:p>
          <a:p>
            <a:pPr>
              <a:buFont typeface="Arial" panose="020B0604020202020204" pitchFamily="34" charset="0"/>
              <a:buChar char="•"/>
            </a:pPr>
            <a:r>
              <a:rPr lang="en-US" dirty="0"/>
              <a:t>Port scan → reports </a:t>
            </a:r>
            <a:r>
              <a:rPr lang="en-US" i="1" dirty="0"/>
              <a:t>No Attack</a:t>
            </a:r>
            <a:endParaRPr lang="en-US" dirty="0"/>
          </a:p>
          <a:p>
            <a:pPr>
              <a:buFont typeface="Arial" panose="020B0604020202020204" pitchFamily="34" charset="0"/>
              <a:buChar char="•"/>
            </a:pPr>
            <a:r>
              <a:rPr lang="en-US" dirty="0"/>
              <a:t>SSH brute force → reports </a:t>
            </a:r>
            <a:r>
              <a:rPr lang="en-US" i="1" dirty="0"/>
              <a:t>Port Scan</a:t>
            </a:r>
            <a:endParaRPr lang="en-US" dirty="0"/>
          </a:p>
          <a:p>
            <a:pPr>
              <a:buFont typeface="Arial" panose="020B0604020202020204" pitchFamily="34" charset="0"/>
              <a:buChar char="•"/>
            </a:pPr>
            <a:r>
              <a:rPr lang="en-US" dirty="0"/>
              <a:t>SYN flood → reports </a:t>
            </a:r>
            <a:r>
              <a:rPr lang="en-US" i="1" dirty="0"/>
              <a:t>SQL Injection</a:t>
            </a:r>
            <a:endParaRPr lang="en-US" dirty="0"/>
          </a:p>
          <a:p>
            <a:pPr>
              <a:buFont typeface="Arial" panose="020B0604020202020204" pitchFamily="34" charset="0"/>
              <a:buChar char="•"/>
            </a:pPr>
            <a:r>
              <a:rPr lang="en-US" dirty="0"/>
              <a:t>Same alert → different response each time</a:t>
            </a:r>
          </a:p>
          <a:p>
            <a:pPr>
              <a:buNone/>
            </a:pPr>
            <a:r>
              <a:rPr lang="en-US" b="1" dirty="0"/>
              <a:t>Property</a:t>
            </a:r>
            <a:br>
              <a:rPr lang="en-US" dirty="0"/>
            </a:br>
            <a:r>
              <a:rPr lang="en-US" dirty="0"/>
              <a:t>✘ Unreliable</a:t>
            </a:r>
            <a:br>
              <a:rPr lang="en-US" dirty="0"/>
            </a:br>
            <a:r>
              <a:rPr lang="en-US" dirty="0"/>
              <a:t>✘ Deceptive</a:t>
            </a:r>
            <a:br>
              <a:rPr lang="en-US" dirty="0"/>
            </a:br>
            <a:r>
              <a:rPr lang="en-US" dirty="0"/>
              <a:t>✘ Actively harmful</a:t>
            </a:r>
          </a:p>
          <a:p>
            <a:endParaRPr lang="en-US" sz="1400" dirty="0"/>
          </a:p>
        </p:txBody>
      </p:sp>
    </p:spTree>
    <p:extLst>
      <p:ext uri="{BB962C8B-B14F-4D97-AF65-F5344CB8AC3E}">
        <p14:creationId xmlns:p14="http://schemas.microsoft.com/office/powerpoint/2010/main" val="1524232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A085E-2C6A-78E0-CE3C-982AAF24B052}"/>
              </a:ext>
            </a:extLst>
          </p:cNvPr>
          <p:cNvSpPr>
            <a:spLocks noGrp="1"/>
          </p:cNvSpPr>
          <p:nvPr>
            <p:ph type="title"/>
          </p:nvPr>
        </p:nvSpPr>
        <p:spPr>
          <a:xfrm>
            <a:off x="838200" y="203201"/>
            <a:ext cx="10515600" cy="1070707"/>
          </a:xfrm>
        </p:spPr>
        <p:txBody>
          <a:bodyPr>
            <a:normAutofit/>
          </a:bodyPr>
          <a:lstStyle/>
          <a:p>
            <a:r>
              <a:rPr lang="en-US" sz="4000" dirty="0"/>
              <a:t>How the System(Consensus) Decides What is True</a:t>
            </a:r>
          </a:p>
        </p:txBody>
      </p:sp>
      <p:sp>
        <p:nvSpPr>
          <p:cNvPr id="3" name="Content Placeholder 2">
            <a:extLst>
              <a:ext uri="{FF2B5EF4-FFF2-40B4-BE49-F238E27FC236}">
                <a16:creationId xmlns:a16="http://schemas.microsoft.com/office/drawing/2014/main" id="{1511C147-FF78-321F-EACC-878EA1A04D39}"/>
              </a:ext>
            </a:extLst>
          </p:cNvPr>
          <p:cNvSpPr>
            <a:spLocks noGrp="1"/>
          </p:cNvSpPr>
          <p:nvPr>
            <p:ph sz="half" idx="1"/>
          </p:nvPr>
        </p:nvSpPr>
        <p:spPr>
          <a:xfrm>
            <a:off x="838200" y="1148862"/>
            <a:ext cx="4976446" cy="5603630"/>
          </a:xfrm>
        </p:spPr>
        <p:txBody>
          <a:bodyPr>
            <a:normAutofit lnSpcReduction="10000"/>
          </a:bodyPr>
          <a:lstStyle/>
          <a:p>
            <a:pPr>
              <a:buNone/>
            </a:pPr>
            <a:r>
              <a:rPr lang="en-US" sz="1600" b="1" dirty="0"/>
              <a:t>Step 1: Independent Votes</a:t>
            </a:r>
          </a:p>
          <a:p>
            <a:pPr>
              <a:buFont typeface="Arial" panose="020B0604020202020204" pitchFamily="34" charset="0"/>
              <a:buChar char="•"/>
            </a:pPr>
            <a:r>
              <a:rPr lang="en-US" sz="1600" dirty="0"/>
              <a:t>All detectors observe the </a:t>
            </a:r>
            <a:r>
              <a:rPr lang="en-US" sz="1600" b="1" dirty="0"/>
              <a:t>same alert</a:t>
            </a:r>
            <a:endParaRPr lang="en-US" sz="1600" dirty="0"/>
          </a:p>
          <a:p>
            <a:pPr>
              <a:buFont typeface="Arial" panose="020B0604020202020204" pitchFamily="34" charset="0"/>
              <a:buChar char="•"/>
            </a:pPr>
            <a:r>
              <a:rPr lang="en-US" sz="1600" dirty="0"/>
              <a:t>Each detector independently reports:</a:t>
            </a:r>
          </a:p>
          <a:p>
            <a:pPr marL="742950" lvl="1" indent="-285750">
              <a:buFont typeface="Arial" panose="020B0604020202020204" pitchFamily="34" charset="0"/>
              <a:buChar char="•"/>
            </a:pPr>
            <a:r>
              <a:rPr lang="en-US" sz="1600" dirty="0"/>
              <a:t>What attack it thinks occurred</a:t>
            </a:r>
          </a:p>
          <a:p>
            <a:pPr>
              <a:buFont typeface="Arial" panose="020B0604020202020204" pitchFamily="34" charset="0"/>
              <a:buChar char="•"/>
            </a:pPr>
            <a:r>
              <a:rPr lang="en-US" sz="1600" dirty="0"/>
              <a:t>Detectors do </a:t>
            </a:r>
            <a:r>
              <a:rPr lang="en-US" sz="1600" b="1" dirty="0"/>
              <a:t>not</a:t>
            </a:r>
            <a:r>
              <a:rPr lang="en-US" sz="1600" dirty="0"/>
              <a:t> coordinate with each other</a:t>
            </a:r>
          </a:p>
          <a:p>
            <a:pPr>
              <a:buNone/>
            </a:pPr>
            <a:r>
              <a:rPr lang="en-US" sz="1600" b="1" dirty="0"/>
              <a:t>Step 2: Possible Behaviors</a:t>
            </a:r>
          </a:p>
          <a:p>
            <a:pPr>
              <a:buFont typeface="Arial" panose="020B0604020202020204" pitchFamily="34" charset="0"/>
              <a:buChar char="•"/>
            </a:pPr>
            <a:r>
              <a:rPr lang="en-US" sz="1600" dirty="0"/>
              <a:t>Honest detectors:</a:t>
            </a:r>
          </a:p>
          <a:p>
            <a:pPr marL="742950" lvl="1" indent="-285750">
              <a:buFont typeface="Arial" panose="020B0604020202020204" pitchFamily="34" charset="0"/>
              <a:buChar char="•"/>
            </a:pPr>
            <a:r>
              <a:rPr lang="en-US" sz="1600" dirty="0"/>
              <a:t>Report the real attack</a:t>
            </a:r>
          </a:p>
          <a:p>
            <a:pPr>
              <a:buFont typeface="Arial" panose="020B0604020202020204" pitchFamily="34" charset="0"/>
              <a:buChar char="•"/>
            </a:pPr>
            <a:r>
              <a:rPr lang="en-US" sz="1600" dirty="0"/>
              <a:t>Byzantine detector:</a:t>
            </a:r>
          </a:p>
          <a:p>
            <a:pPr marL="742950" lvl="1" indent="-285750">
              <a:buFont typeface="Arial" panose="020B0604020202020204" pitchFamily="34" charset="0"/>
              <a:buChar char="•"/>
            </a:pPr>
            <a:r>
              <a:rPr lang="en-US" sz="1600" dirty="0"/>
              <a:t>May lie</a:t>
            </a:r>
          </a:p>
          <a:p>
            <a:pPr marL="742950" lvl="1" indent="-285750">
              <a:buFont typeface="Arial" panose="020B0604020202020204" pitchFamily="34" charset="0"/>
              <a:buChar char="•"/>
            </a:pPr>
            <a:r>
              <a:rPr lang="en-US" sz="1600" dirty="0"/>
              <a:t>May report a wrong attack</a:t>
            </a:r>
          </a:p>
          <a:p>
            <a:pPr marL="742950" lvl="1" indent="-285750">
              <a:buFont typeface="Arial" panose="020B0604020202020204" pitchFamily="34" charset="0"/>
              <a:buChar char="•"/>
            </a:pPr>
            <a:r>
              <a:rPr lang="en-US" sz="1600" dirty="0"/>
              <a:t>May change its answer randomly</a:t>
            </a:r>
          </a:p>
          <a:p>
            <a:pPr>
              <a:buNone/>
            </a:pPr>
            <a:r>
              <a:rPr lang="en-US" sz="1600" b="1" dirty="0"/>
              <a:t>Step 3: Majority Decision</a:t>
            </a:r>
          </a:p>
          <a:p>
            <a:pPr>
              <a:buFont typeface="Arial" panose="020B0604020202020204" pitchFamily="34" charset="0"/>
              <a:buChar char="•"/>
            </a:pPr>
            <a:r>
              <a:rPr lang="en-US" sz="1600" dirty="0"/>
              <a:t>Votes are counted by attack type</a:t>
            </a:r>
          </a:p>
          <a:p>
            <a:pPr>
              <a:buFont typeface="Arial" panose="020B0604020202020204" pitchFamily="34" charset="0"/>
              <a:buChar char="•"/>
            </a:pPr>
            <a:r>
              <a:rPr lang="en-US" sz="1600" dirty="0"/>
              <a:t>If </a:t>
            </a:r>
            <a:r>
              <a:rPr lang="en-US" sz="1600" b="1" dirty="0"/>
              <a:t>2 out of 3 detectors agree</a:t>
            </a:r>
            <a:r>
              <a:rPr lang="en-US" sz="1600" dirty="0"/>
              <a:t>:</a:t>
            </a:r>
          </a:p>
          <a:p>
            <a:pPr marL="742950" lvl="1" indent="-285750">
              <a:buFont typeface="Arial" panose="020B0604020202020204" pitchFamily="34" charset="0"/>
              <a:buChar char="•"/>
            </a:pPr>
            <a:r>
              <a:rPr lang="en-US" sz="1600" dirty="0"/>
              <a:t>That attack is accepted as the truth</a:t>
            </a:r>
          </a:p>
          <a:p>
            <a:pPr>
              <a:buFont typeface="Arial" panose="020B0604020202020204" pitchFamily="34" charset="0"/>
              <a:buChar char="•"/>
            </a:pPr>
            <a:r>
              <a:rPr lang="en-US" sz="1600" dirty="0"/>
              <a:t>Any conflicting or minority vote is ignored</a:t>
            </a:r>
          </a:p>
          <a:p>
            <a:pPr>
              <a:buFont typeface="Arial" panose="020B0604020202020204" pitchFamily="34" charset="0"/>
              <a:buChar char="•"/>
            </a:pPr>
            <a:endParaRPr lang="en-US" sz="1400" dirty="0"/>
          </a:p>
          <a:p>
            <a:endParaRPr lang="en-US" sz="1400" dirty="0"/>
          </a:p>
        </p:txBody>
      </p:sp>
      <p:sp>
        <p:nvSpPr>
          <p:cNvPr id="4" name="Content Placeholder 3">
            <a:extLst>
              <a:ext uri="{FF2B5EF4-FFF2-40B4-BE49-F238E27FC236}">
                <a16:creationId xmlns:a16="http://schemas.microsoft.com/office/drawing/2014/main" id="{D96A4FC5-8F7A-05A1-4A7A-34B2E345358A}"/>
              </a:ext>
            </a:extLst>
          </p:cNvPr>
          <p:cNvSpPr>
            <a:spLocks noGrp="1"/>
          </p:cNvSpPr>
          <p:nvPr>
            <p:ph sz="half" idx="2"/>
          </p:nvPr>
        </p:nvSpPr>
        <p:spPr>
          <a:xfrm>
            <a:off x="6010031" y="976923"/>
            <a:ext cx="5343769" cy="5775569"/>
          </a:xfrm>
        </p:spPr>
        <p:txBody>
          <a:bodyPr>
            <a:normAutofit lnSpcReduction="10000"/>
          </a:bodyPr>
          <a:lstStyle/>
          <a:p>
            <a:pPr>
              <a:buNone/>
            </a:pPr>
            <a:r>
              <a:rPr lang="en-US" sz="1400" b="1" dirty="0"/>
              <a:t>Why 3 Detectors in This Project</a:t>
            </a:r>
          </a:p>
          <a:p>
            <a:pPr>
              <a:buNone/>
            </a:pPr>
            <a:r>
              <a:rPr lang="en-US" sz="1400" dirty="0"/>
              <a:t>• Total detector nodes: </a:t>
            </a:r>
            <a:r>
              <a:rPr lang="en-US" sz="1400" b="1" dirty="0"/>
              <a:t>3</a:t>
            </a:r>
            <a:br>
              <a:rPr lang="en-US" sz="1400" dirty="0"/>
            </a:br>
            <a:r>
              <a:rPr lang="en-US" sz="1400" dirty="0"/>
              <a:t>• Byzantine nodes tolerated: </a:t>
            </a:r>
            <a:r>
              <a:rPr lang="en-US" sz="1400" b="1" dirty="0"/>
              <a:t>1</a:t>
            </a:r>
            <a:br>
              <a:rPr lang="en-US" sz="1400" dirty="0"/>
            </a:br>
            <a:r>
              <a:rPr lang="en-US" sz="1400" dirty="0"/>
              <a:t>• Consensus rule applied: </a:t>
            </a:r>
            <a:r>
              <a:rPr lang="en-US" sz="1400" b="1" dirty="0"/>
              <a:t>2 out of 3 must agree (66.7%)</a:t>
            </a:r>
            <a:endParaRPr lang="en-US" sz="1400" dirty="0"/>
          </a:p>
          <a:p>
            <a:pPr>
              <a:buNone/>
            </a:pPr>
            <a:r>
              <a:rPr lang="en-US" sz="1400" b="1" dirty="0"/>
              <a:t>Mathematical Basis:</a:t>
            </a:r>
            <a:endParaRPr lang="en-US" sz="1400" dirty="0"/>
          </a:p>
          <a:p>
            <a:pPr rtl="0">
              <a:buNone/>
            </a:pPr>
            <a:r>
              <a:rPr lang="en-US" sz="1400" dirty="0">
                <a:latin typeface="Courier New" panose="02070309020205020404" pitchFamily="49" charset="0"/>
              </a:rPr>
              <a:t>n ≥ 3f + 1</a:t>
            </a:r>
          </a:p>
          <a:p>
            <a:pPr rtl="0">
              <a:buNone/>
            </a:pPr>
            <a:r>
              <a:rPr lang="en-US" sz="1400" dirty="0">
                <a:latin typeface="Courier New" panose="02070309020205020404" pitchFamily="49" charset="0"/>
              </a:rPr>
              <a:t>n = total nodes</a:t>
            </a:r>
          </a:p>
          <a:p>
            <a:pPr rtl="0">
              <a:buNone/>
            </a:pPr>
            <a:r>
              <a:rPr lang="en-US" sz="1400" dirty="0">
                <a:latin typeface="Courier New" panose="02070309020205020404" pitchFamily="49" charset="0"/>
              </a:rPr>
              <a:t>f = Byzantine nodes</a:t>
            </a:r>
          </a:p>
          <a:p>
            <a:pPr>
              <a:buNone/>
            </a:pPr>
            <a:r>
              <a:rPr lang="en-US" sz="1400" dirty="0"/>
              <a:t>For this project:</a:t>
            </a:r>
            <a:br>
              <a:rPr lang="en-US" sz="1400" dirty="0"/>
            </a:br>
            <a:r>
              <a:rPr lang="en-US" sz="1400" dirty="0"/>
              <a:t>• f = 1</a:t>
            </a:r>
            <a:br>
              <a:rPr lang="en-US" sz="1400" dirty="0"/>
            </a:br>
            <a:r>
              <a:rPr lang="en-US" sz="1400" dirty="0"/>
              <a:t>• n = 3(1) + 1 = </a:t>
            </a:r>
            <a:r>
              <a:rPr lang="en-US" sz="1400" b="1" dirty="0"/>
              <a:t>4 logical participants</a:t>
            </a:r>
            <a:br>
              <a:rPr lang="en-US" sz="1400" dirty="0"/>
            </a:br>
            <a:r>
              <a:rPr lang="en-US" sz="1400" dirty="0"/>
              <a:t>• Implemented as:</a:t>
            </a:r>
          </a:p>
          <a:p>
            <a:pPr>
              <a:buFont typeface="Arial" panose="020B0604020202020204" pitchFamily="34" charset="0"/>
              <a:buChar char="•"/>
            </a:pPr>
            <a:r>
              <a:rPr lang="en-US" sz="1400" b="1" dirty="0"/>
              <a:t>3 detector nodes (voters)</a:t>
            </a:r>
            <a:endParaRPr lang="en-US" sz="1400" dirty="0"/>
          </a:p>
          <a:p>
            <a:pPr>
              <a:buFont typeface="Arial" panose="020B0604020202020204" pitchFamily="34" charset="0"/>
              <a:buChar char="•"/>
            </a:pPr>
            <a:r>
              <a:rPr lang="en-US" sz="1400" b="1" dirty="0"/>
              <a:t>1 coordinator (decision arbiter)</a:t>
            </a:r>
            <a:endParaRPr lang="en-US" sz="1400" dirty="0"/>
          </a:p>
          <a:p>
            <a:pPr>
              <a:buNone/>
            </a:pPr>
            <a:r>
              <a:rPr lang="en-US" sz="1400" b="1" dirty="0"/>
              <a:t>Why This Is Still Valid and Realistic</a:t>
            </a:r>
          </a:p>
          <a:p>
            <a:pPr>
              <a:buNone/>
            </a:pPr>
            <a:r>
              <a:rPr lang="en-US" sz="1400" dirty="0"/>
              <a:t>• Insider compromise is </a:t>
            </a:r>
            <a:r>
              <a:rPr lang="en-US" sz="1400" b="1" dirty="0"/>
              <a:t>rare but catastrophic</a:t>
            </a:r>
            <a:br>
              <a:rPr lang="en-US" sz="1400" dirty="0"/>
            </a:br>
            <a:r>
              <a:rPr lang="en-US" sz="1400" dirty="0"/>
              <a:t>• Attacks typically affect </a:t>
            </a:r>
            <a:r>
              <a:rPr lang="en-US" sz="1400" b="1" dirty="0"/>
              <a:t>a minority of systems first</a:t>
            </a:r>
            <a:br>
              <a:rPr lang="en-US" sz="1400" dirty="0"/>
            </a:br>
            <a:r>
              <a:rPr lang="en-US" sz="1400" dirty="0"/>
              <a:t>• The model protects against:</a:t>
            </a:r>
          </a:p>
          <a:p>
            <a:pPr>
              <a:buFont typeface="Arial" panose="020B0604020202020204" pitchFamily="34" charset="0"/>
              <a:buChar char="•"/>
            </a:pPr>
            <a:r>
              <a:rPr lang="en-US" sz="1400" dirty="0"/>
              <a:t>Lying detectors</a:t>
            </a:r>
          </a:p>
          <a:p>
            <a:pPr>
              <a:buFont typeface="Arial" panose="020B0604020202020204" pitchFamily="34" charset="0"/>
              <a:buChar char="•"/>
            </a:pPr>
            <a:r>
              <a:rPr lang="en-US" sz="1400" dirty="0"/>
              <a:t>False negatives</a:t>
            </a:r>
          </a:p>
          <a:p>
            <a:pPr>
              <a:buFont typeface="Arial" panose="020B0604020202020204" pitchFamily="34" charset="0"/>
              <a:buChar char="•"/>
            </a:pPr>
            <a:r>
              <a:rPr lang="en-US" sz="1400" dirty="0"/>
              <a:t>False positives</a:t>
            </a:r>
          </a:p>
          <a:p>
            <a:pPr>
              <a:buFont typeface="Arial" panose="020B0604020202020204" pitchFamily="34" charset="0"/>
              <a:buChar char="•"/>
            </a:pPr>
            <a:r>
              <a:rPr lang="en-US" sz="1400" dirty="0"/>
              <a:t>Insider manipulation</a:t>
            </a:r>
          </a:p>
          <a:p>
            <a:pPr>
              <a:buNone/>
            </a:pPr>
            <a:endParaRPr lang="en-US" sz="1000" dirty="0"/>
          </a:p>
          <a:p>
            <a:endParaRPr lang="en-US" sz="1200" dirty="0"/>
          </a:p>
        </p:txBody>
      </p:sp>
    </p:spTree>
    <p:extLst>
      <p:ext uri="{BB962C8B-B14F-4D97-AF65-F5344CB8AC3E}">
        <p14:creationId xmlns:p14="http://schemas.microsoft.com/office/powerpoint/2010/main" val="562612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59CC4-B349-B1B8-A5EA-5A2AC7E570E0}"/>
              </a:ext>
            </a:extLst>
          </p:cNvPr>
          <p:cNvSpPr>
            <a:spLocks noGrp="1"/>
          </p:cNvSpPr>
          <p:nvPr>
            <p:ph type="title"/>
          </p:nvPr>
        </p:nvSpPr>
        <p:spPr>
          <a:xfrm>
            <a:off x="838200" y="187569"/>
            <a:ext cx="10515600" cy="1503119"/>
          </a:xfrm>
        </p:spPr>
        <p:txBody>
          <a:bodyPr>
            <a:normAutofit/>
          </a:bodyPr>
          <a:lstStyle/>
          <a:p>
            <a:r>
              <a:rPr lang="en-US" sz="4000" dirty="0"/>
              <a:t>Attack 1 Port Scan Attack &amp; Detection Evidence</a:t>
            </a:r>
          </a:p>
        </p:txBody>
      </p:sp>
      <p:pic>
        <p:nvPicPr>
          <p:cNvPr id="8" name="Content Placeholder 7">
            <a:extLst>
              <a:ext uri="{FF2B5EF4-FFF2-40B4-BE49-F238E27FC236}">
                <a16:creationId xmlns:a16="http://schemas.microsoft.com/office/drawing/2014/main" id="{44AE0199-1BFD-FB9C-AC8C-FE1FC274E73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078892"/>
            <a:ext cx="5181600" cy="4098071"/>
          </a:xfrm>
        </p:spPr>
      </p:pic>
      <p:pic>
        <p:nvPicPr>
          <p:cNvPr id="10" name="Content Placeholder 9">
            <a:extLst>
              <a:ext uri="{FF2B5EF4-FFF2-40B4-BE49-F238E27FC236}">
                <a16:creationId xmlns:a16="http://schemas.microsoft.com/office/drawing/2014/main" id="{CE5E67EB-C368-3CD3-CF7F-16CE6D8EC7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199" y="1953846"/>
            <a:ext cx="5926015" cy="4223117"/>
          </a:xfrm>
        </p:spPr>
      </p:pic>
    </p:spTree>
    <p:extLst>
      <p:ext uri="{BB962C8B-B14F-4D97-AF65-F5344CB8AC3E}">
        <p14:creationId xmlns:p14="http://schemas.microsoft.com/office/powerpoint/2010/main" val="1647110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60EE3-1DC7-1384-0021-B83D0DA28177}"/>
              </a:ext>
            </a:extLst>
          </p:cNvPr>
          <p:cNvSpPr>
            <a:spLocks noGrp="1"/>
          </p:cNvSpPr>
          <p:nvPr>
            <p:ph type="title"/>
          </p:nvPr>
        </p:nvSpPr>
        <p:spPr>
          <a:xfrm>
            <a:off x="414215" y="164123"/>
            <a:ext cx="10939585" cy="1227015"/>
          </a:xfrm>
        </p:spPr>
        <p:txBody>
          <a:bodyPr>
            <a:normAutofit/>
          </a:bodyPr>
          <a:lstStyle/>
          <a:p>
            <a:r>
              <a:rPr lang="en-US" sz="4000" b="1" dirty="0"/>
              <a:t> Attack-1 Byzantine Behavior &amp; Consensus Outcome</a:t>
            </a:r>
          </a:p>
        </p:txBody>
      </p:sp>
      <p:pic>
        <p:nvPicPr>
          <p:cNvPr id="6" name="Content Placeholder 5">
            <a:extLst>
              <a:ext uri="{FF2B5EF4-FFF2-40B4-BE49-F238E27FC236}">
                <a16:creationId xmlns:a16="http://schemas.microsoft.com/office/drawing/2014/main" id="{F59294B6-6CEE-9A68-09DE-07C1C44CC77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5386" y="1531816"/>
            <a:ext cx="5687890" cy="4024922"/>
          </a:xfrm>
        </p:spPr>
      </p:pic>
      <p:pic>
        <p:nvPicPr>
          <p:cNvPr id="8" name="Content Placeholder 7">
            <a:extLst>
              <a:ext uri="{FF2B5EF4-FFF2-40B4-BE49-F238E27FC236}">
                <a16:creationId xmlns:a16="http://schemas.microsoft.com/office/drawing/2014/main" id="{BE0A333D-536A-E115-7E4D-AAA0CE897C0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531816"/>
            <a:ext cx="5934075" cy="4376615"/>
          </a:xfrm>
        </p:spPr>
      </p:pic>
    </p:spTree>
    <p:extLst>
      <p:ext uri="{BB962C8B-B14F-4D97-AF65-F5344CB8AC3E}">
        <p14:creationId xmlns:p14="http://schemas.microsoft.com/office/powerpoint/2010/main" val="3140426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8A2B-D92A-2EE8-EC59-5C86E66BC32E}"/>
              </a:ext>
            </a:extLst>
          </p:cNvPr>
          <p:cNvSpPr>
            <a:spLocks noGrp="1"/>
          </p:cNvSpPr>
          <p:nvPr>
            <p:ph type="title"/>
          </p:nvPr>
        </p:nvSpPr>
        <p:spPr>
          <a:xfrm>
            <a:off x="117231" y="179755"/>
            <a:ext cx="11957538" cy="1109784"/>
          </a:xfrm>
        </p:spPr>
        <p:txBody>
          <a:bodyPr>
            <a:normAutofit fontScale="90000"/>
          </a:bodyPr>
          <a:lstStyle/>
          <a:p>
            <a:r>
              <a:rPr lang="en-US" b="1" dirty="0"/>
              <a:t> Attack-1 Summary </a:t>
            </a:r>
            <a:r>
              <a:rPr lang="fr-FR" b="1" dirty="0"/>
              <a:t>Port Scan Under Byzantine Conditions</a:t>
            </a:r>
            <a:endParaRPr lang="en-US" b="1" dirty="0"/>
          </a:p>
        </p:txBody>
      </p:sp>
      <p:sp>
        <p:nvSpPr>
          <p:cNvPr id="3" name="Content Placeholder 2">
            <a:extLst>
              <a:ext uri="{FF2B5EF4-FFF2-40B4-BE49-F238E27FC236}">
                <a16:creationId xmlns:a16="http://schemas.microsoft.com/office/drawing/2014/main" id="{6C8579D6-3481-3D06-3C44-8A9E467527DA}"/>
              </a:ext>
            </a:extLst>
          </p:cNvPr>
          <p:cNvSpPr>
            <a:spLocks noGrp="1"/>
          </p:cNvSpPr>
          <p:nvPr>
            <p:ph sz="half" idx="1"/>
          </p:nvPr>
        </p:nvSpPr>
        <p:spPr>
          <a:xfrm>
            <a:off x="838200" y="1359877"/>
            <a:ext cx="5181600" cy="4817086"/>
          </a:xfrm>
        </p:spPr>
        <p:txBody>
          <a:bodyPr>
            <a:normAutofit/>
          </a:bodyPr>
          <a:lstStyle/>
          <a:p>
            <a:pPr>
              <a:buNone/>
            </a:pPr>
            <a:r>
              <a:rPr lang="en-US" sz="1800" b="1" dirty="0"/>
              <a:t>What Happened (Ground Truth)</a:t>
            </a:r>
          </a:p>
          <a:p>
            <a:pPr>
              <a:buFont typeface="Arial" panose="020B0604020202020204" pitchFamily="34" charset="0"/>
              <a:buChar char="•"/>
            </a:pPr>
            <a:r>
              <a:rPr lang="en-US" sz="1800" dirty="0"/>
              <a:t>External attacker performed a </a:t>
            </a:r>
            <a:r>
              <a:rPr lang="en-US" sz="1800" b="1" dirty="0"/>
              <a:t>Port Scan</a:t>
            </a:r>
            <a:endParaRPr lang="en-US" sz="1800" dirty="0"/>
          </a:p>
          <a:p>
            <a:pPr>
              <a:buFont typeface="Arial" panose="020B0604020202020204" pitchFamily="34" charset="0"/>
              <a:buChar char="•"/>
            </a:pPr>
            <a:r>
              <a:rPr lang="en-US" sz="1800" dirty="0"/>
              <a:t>Target Raspberry Pi generated </a:t>
            </a:r>
            <a:r>
              <a:rPr lang="en-US" sz="1800" b="1" dirty="0"/>
              <a:t>real Suricata alerts</a:t>
            </a:r>
            <a:endParaRPr lang="en-US" sz="1800" dirty="0"/>
          </a:p>
          <a:p>
            <a:pPr>
              <a:buFont typeface="Arial" panose="020B0604020202020204" pitchFamily="34" charset="0"/>
              <a:buChar char="•"/>
            </a:pPr>
            <a:r>
              <a:rPr lang="en-US" sz="1800" dirty="0"/>
              <a:t>All detectors observed the </a:t>
            </a:r>
            <a:r>
              <a:rPr lang="en-US" sz="1800" b="1" dirty="0"/>
              <a:t>same raw network evidence</a:t>
            </a:r>
            <a:endParaRPr lang="en-US" sz="1800" dirty="0"/>
          </a:p>
          <a:p>
            <a:pPr>
              <a:buNone/>
            </a:pPr>
            <a:r>
              <a:rPr lang="en-US" sz="1800" b="1" dirty="0"/>
              <a:t>Detector Behavior Observed</a:t>
            </a:r>
          </a:p>
          <a:p>
            <a:pPr>
              <a:buFont typeface="Arial" panose="020B0604020202020204" pitchFamily="34" charset="0"/>
              <a:buChar char="•"/>
            </a:pPr>
            <a:r>
              <a:rPr lang="en-US" sz="1800" b="1" dirty="0"/>
              <a:t>Honest Detectors (RP6, RP8):</a:t>
            </a:r>
            <a:endParaRPr lang="en-US" sz="1800" dirty="0"/>
          </a:p>
          <a:p>
            <a:pPr marL="742950" lvl="1" indent="-285750">
              <a:buFont typeface="Arial" panose="020B0604020202020204" pitchFamily="34" charset="0"/>
              <a:buChar char="•"/>
            </a:pPr>
            <a:r>
              <a:rPr lang="en-US" sz="1800" dirty="0"/>
              <a:t>Correctly identified </a:t>
            </a:r>
            <a:r>
              <a:rPr lang="en-US" sz="1800" b="1" dirty="0"/>
              <a:t>Port Scan</a:t>
            </a:r>
            <a:endParaRPr lang="en-US" sz="1800" dirty="0"/>
          </a:p>
          <a:p>
            <a:pPr marL="742950" lvl="1" indent="-285750">
              <a:buFont typeface="Arial" panose="020B0604020202020204" pitchFamily="34" charset="0"/>
              <a:buChar char="•"/>
            </a:pPr>
            <a:r>
              <a:rPr lang="en-US" sz="1800" dirty="0"/>
              <a:t>Reported consistent results</a:t>
            </a:r>
          </a:p>
          <a:p>
            <a:pPr>
              <a:buFont typeface="Arial" panose="020B0604020202020204" pitchFamily="34" charset="0"/>
              <a:buChar char="•"/>
            </a:pPr>
            <a:r>
              <a:rPr lang="en-US" sz="1800" b="1" dirty="0"/>
              <a:t>Byzantine Detector (RP8-Virtual):</a:t>
            </a:r>
            <a:endParaRPr lang="en-US" sz="1800" dirty="0"/>
          </a:p>
          <a:p>
            <a:pPr marL="742950" lvl="1" indent="-285750">
              <a:buFont typeface="Arial" panose="020B0604020202020204" pitchFamily="34" charset="0"/>
              <a:buChar char="•"/>
            </a:pPr>
            <a:r>
              <a:rPr lang="en-US" sz="1800" dirty="0"/>
              <a:t>Intentionally lied or misclassified</a:t>
            </a:r>
          </a:p>
          <a:p>
            <a:pPr marL="742950" lvl="1" indent="-285750">
              <a:buFont typeface="Arial" panose="020B0604020202020204" pitchFamily="34" charset="0"/>
              <a:buChar char="•"/>
            </a:pPr>
            <a:r>
              <a:rPr lang="en-US" sz="1800" dirty="0"/>
              <a:t>Sent </a:t>
            </a:r>
            <a:r>
              <a:rPr lang="en-US" sz="1800" b="1" dirty="0"/>
              <a:t>conflicting or false attack labels</a:t>
            </a:r>
            <a:endParaRPr lang="en-US" sz="1800" dirty="0"/>
          </a:p>
          <a:p>
            <a:endParaRPr lang="en-US" sz="1400" dirty="0"/>
          </a:p>
        </p:txBody>
      </p:sp>
      <p:sp>
        <p:nvSpPr>
          <p:cNvPr id="4" name="Content Placeholder 3">
            <a:extLst>
              <a:ext uri="{FF2B5EF4-FFF2-40B4-BE49-F238E27FC236}">
                <a16:creationId xmlns:a16="http://schemas.microsoft.com/office/drawing/2014/main" id="{A73D1323-F34D-3840-3786-111637B9C748}"/>
              </a:ext>
            </a:extLst>
          </p:cNvPr>
          <p:cNvSpPr>
            <a:spLocks noGrp="1"/>
          </p:cNvSpPr>
          <p:nvPr>
            <p:ph sz="half" idx="2"/>
          </p:nvPr>
        </p:nvSpPr>
        <p:spPr>
          <a:xfrm>
            <a:off x="6172200" y="1359877"/>
            <a:ext cx="5181600" cy="4817086"/>
          </a:xfrm>
        </p:spPr>
        <p:txBody>
          <a:bodyPr>
            <a:normAutofit/>
          </a:bodyPr>
          <a:lstStyle/>
          <a:p>
            <a:pPr>
              <a:buNone/>
            </a:pPr>
            <a:r>
              <a:rPr lang="en-US" sz="1800" b="1" dirty="0"/>
              <a:t>Consensus Outcome</a:t>
            </a:r>
          </a:p>
          <a:p>
            <a:pPr>
              <a:buFont typeface="Arial" panose="020B0604020202020204" pitchFamily="34" charset="0"/>
              <a:buChar char="•"/>
            </a:pPr>
            <a:r>
              <a:rPr lang="en-US" sz="1800" dirty="0"/>
              <a:t>Votes were aggregated by the coordinator</a:t>
            </a:r>
          </a:p>
          <a:p>
            <a:pPr>
              <a:buFont typeface="Arial" panose="020B0604020202020204" pitchFamily="34" charset="0"/>
              <a:buChar char="•"/>
            </a:pPr>
            <a:r>
              <a:rPr lang="en-US" sz="1800" b="1" dirty="0"/>
              <a:t>2 out of 3 detectors agreed</a:t>
            </a:r>
            <a:endParaRPr lang="en-US" sz="1800" dirty="0"/>
          </a:p>
          <a:p>
            <a:pPr>
              <a:buFont typeface="Arial" panose="020B0604020202020204" pitchFamily="34" charset="0"/>
              <a:buChar char="•"/>
            </a:pPr>
            <a:r>
              <a:rPr lang="en-US" sz="1800" b="1" dirty="0"/>
              <a:t>Correct attack (Port Scan) was accepted</a:t>
            </a:r>
            <a:endParaRPr lang="en-US" sz="1800" dirty="0"/>
          </a:p>
          <a:p>
            <a:pPr>
              <a:buFont typeface="Arial" panose="020B0604020202020204" pitchFamily="34" charset="0"/>
              <a:buChar char="•"/>
            </a:pPr>
            <a:r>
              <a:rPr lang="en-US" sz="1800" dirty="0"/>
              <a:t>Byzantine vote was </a:t>
            </a:r>
            <a:r>
              <a:rPr lang="en-US" sz="1800" b="1" dirty="0"/>
              <a:t>outvoted and ignored</a:t>
            </a:r>
            <a:endParaRPr lang="en-US" sz="1800" dirty="0"/>
          </a:p>
          <a:p>
            <a:pPr>
              <a:buNone/>
            </a:pPr>
            <a:r>
              <a:rPr lang="en-US" sz="1800" b="1" dirty="0"/>
              <a:t>Key Insight from Attack-1</a:t>
            </a:r>
          </a:p>
          <a:p>
            <a:pPr>
              <a:buNone/>
            </a:pPr>
            <a:r>
              <a:rPr lang="en-US" sz="1800" b="1" dirty="0"/>
              <a:t>The system remained correct even when one detector actively lied</a:t>
            </a:r>
            <a:endParaRPr lang="en-US" sz="1800" dirty="0"/>
          </a:p>
          <a:p>
            <a:pPr>
              <a:buNone/>
            </a:pPr>
            <a:r>
              <a:rPr lang="en-US" sz="1800" dirty="0"/>
              <a:t>✔ No single detector controlled the outcome</a:t>
            </a:r>
            <a:br>
              <a:rPr lang="en-US" sz="1800" dirty="0"/>
            </a:br>
            <a:r>
              <a:rPr lang="en-US" sz="1800" dirty="0"/>
              <a:t>✔ Trust was </a:t>
            </a:r>
            <a:r>
              <a:rPr lang="en-US" sz="1800" b="1" dirty="0"/>
              <a:t>verified</a:t>
            </a:r>
            <a:r>
              <a:rPr lang="en-US" sz="1800" dirty="0"/>
              <a:t>, not assumed</a:t>
            </a:r>
            <a:br>
              <a:rPr lang="en-US" sz="1800" dirty="0"/>
            </a:br>
            <a:r>
              <a:rPr lang="en-US" sz="1800" dirty="0"/>
              <a:t>✔ Byzantine behavior did </a:t>
            </a:r>
            <a:r>
              <a:rPr lang="en-US" sz="1800" b="1" dirty="0"/>
              <a:t>not</a:t>
            </a:r>
            <a:r>
              <a:rPr lang="en-US" sz="1800" dirty="0"/>
              <a:t> break detection</a:t>
            </a:r>
          </a:p>
          <a:p>
            <a:endParaRPr lang="en-US" sz="1600" dirty="0"/>
          </a:p>
        </p:txBody>
      </p:sp>
    </p:spTree>
    <p:extLst>
      <p:ext uri="{BB962C8B-B14F-4D97-AF65-F5344CB8AC3E}">
        <p14:creationId xmlns:p14="http://schemas.microsoft.com/office/powerpoint/2010/main" val="3109979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12AF-9DD3-2585-4501-5DE92F068C36}"/>
              </a:ext>
            </a:extLst>
          </p:cNvPr>
          <p:cNvSpPr>
            <a:spLocks noGrp="1"/>
          </p:cNvSpPr>
          <p:nvPr>
            <p:ph type="title"/>
          </p:nvPr>
        </p:nvSpPr>
        <p:spPr>
          <a:xfrm>
            <a:off x="164123" y="109416"/>
            <a:ext cx="11189677" cy="703383"/>
          </a:xfrm>
        </p:spPr>
        <p:txBody>
          <a:bodyPr>
            <a:normAutofit/>
          </a:bodyPr>
          <a:lstStyle/>
          <a:p>
            <a:r>
              <a:rPr lang="en-US" sz="3200" b="1" dirty="0"/>
              <a:t>Attack-2: SSH Brute Force Attack &amp; Detection Evidence</a:t>
            </a:r>
          </a:p>
        </p:txBody>
      </p:sp>
      <p:pic>
        <p:nvPicPr>
          <p:cNvPr id="14" name="Content Placeholder 13">
            <a:extLst>
              <a:ext uri="{FF2B5EF4-FFF2-40B4-BE49-F238E27FC236}">
                <a16:creationId xmlns:a16="http://schemas.microsoft.com/office/drawing/2014/main" id="{393C5CD8-53E6-8902-5E33-7C38D3F6AED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79616" y="938213"/>
            <a:ext cx="3711393" cy="5810250"/>
          </a:xfrm>
        </p:spPr>
      </p:pic>
      <p:pic>
        <p:nvPicPr>
          <p:cNvPr id="16" name="Content Placeholder 15">
            <a:extLst>
              <a:ext uri="{FF2B5EF4-FFF2-40B4-BE49-F238E27FC236}">
                <a16:creationId xmlns:a16="http://schemas.microsoft.com/office/drawing/2014/main" id="{DF49DB2E-5C47-B460-020D-BE9C822B813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71502" y="3347183"/>
            <a:ext cx="5440882" cy="3272448"/>
          </a:xfrm>
        </p:spPr>
      </p:pic>
      <p:pic>
        <p:nvPicPr>
          <p:cNvPr id="18" name="Picture 17">
            <a:extLst>
              <a:ext uri="{FF2B5EF4-FFF2-40B4-BE49-F238E27FC236}">
                <a16:creationId xmlns:a16="http://schemas.microsoft.com/office/drawing/2014/main" id="{883AFC7A-1221-D7FF-E7D8-26C9A56FF2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1502" y="644190"/>
            <a:ext cx="5747947" cy="2387417"/>
          </a:xfrm>
          <a:prstGeom prst="rect">
            <a:avLst/>
          </a:prstGeom>
        </p:spPr>
      </p:pic>
    </p:spTree>
    <p:extLst>
      <p:ext uri="{BB962C8B-B14F-4D97-AF65-F5344CB8AC3E}">
        <p14:creationId xmlns:p14="http://schemas.microsoft.com/office/powerpoint/2010/main" val="318375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A34AD-E99F-B964-CC7F-44B2983A1E4E}"/>
              </a:ext>
            </a:extLst>
          </p:cNvPr>
          <p:cNvSpPr>
            <a:spLocks noGrp="1"/>
          </p:cNvSpPr>
          <p:nvPr>
            <p:ph type="title"/>
          </p:nvPr>
        </p:nvSpPr>
        <p:spPr>
          <a:xfrm>
            <a:off x="460131" y="93785"/>
            <a:ext cx="11119338" cy="844061"/>
          </a:xfrm>
        </p:spPr>
        <p:txBody>
          <a:bodyPr>
            <a:normAutofit/>
          </a:bodyPr>
          <a:lstStyle/>
          <a:p>
            <a:r>
              <a:rPr lang="en-US" sz="4000" dirty="0"/>
              <a:t>Attack-2: Byzantine Behavior &amp; Consensus Reasoning</a:t>
            </a:r>
          </a:p>
        </p:txBody>
      </p:sp>
      <p:sp>
        <p:nvSpPr>
          <p:cNvPr id="3" name="Content Placeholder 2">
            <a:extLst>
              <a:ext uri="{FF2B5EF4-FFF2-40B4-BE49-F238E27FC236}">
                <a16:creationId xmlns:a16="http://schemas.microsoft.com/office/drawing/2014/main" id="{6946F397-2D37-2787-F94E-327AB7C42962}"/>
              </a:ext>
            </a:extLst>
          </p:cNvPr>
          <p:cNvSpPr>
            <a:spLocks noGrp="1"/>
          </p:cNvSpPr>
          <p:nvPr>
            <p:ph sz="half" idx="1"/>
          </p:nvPr>
        </p:nvSpPr>
        <p:spPr>
          <a:xfrm>
            <a:off x="218831" y="937846"/>
            <a:ext cx="5800969" cy="5752123"/>
          </a:xfrm>
        </p:spPr>
        <p:txBody>
          <a:bodyPr>
            <a:normAutofit lnSpcReduction="10000"/>
          </a:bodyPr>
          <a:lstStyle/>
          <a:p>
            <a:pPr>
              <a:buNone/>
            </a:pPr>
            <a:r>
              <a:rPr lang="en-US" sz="1600" b="1" dirty="0"/>
              <a:t>What Happened (Ground Truth)</a:t>
            </a:r>
          </a:p>
          <a:p>
            <a:pPr>
              <a:buFont typeface="Arial" panose="020B0604020202020204" pitchFamily="34" charset="0"/>
              <a:buChar char="•"/>
            </a:pPr>
            <a:r>
              <a:rPr lang="en-US" sz="1600" dirty="0"/>
              <a:t>External attacker launched </a:t>
            </a:r>
            <a:r>
              <a:rPr lang="en-US" sz="1600" b="1" dirty="0"/>
              <a:t>SSH brute-force attempts</a:t>
            </a:r>
            <a:endParaRPr lang="en-US" sz="1600" dirty="0"/>
          </a:p>
          <a:p>
            <a:pPr>
              <a:buFont typeface="Arial" panose="020B0604020202020204" pitchFamily="34" charset="0"/>
              <a:buChar char="•"/>
            </a:pPr>
            <a:r>
              <a:rPr lang="en-US" sz="1600" dirty="0"/>
              <a:t>Target Raspberry Pi generated </a:t>
            </a:r>
            <a:r>
              <a:rPr lang="en-US" sz="1600" b="1" dirty="0"/>
              <a:t>real Suricata alerts</a:t>
            </a:r>
            <a:endParaRPr lang="en-US" sz="1600" dirty="0"/>
          </a:p>
          <a:p>
            <a:pPr>
              <a:buFont typeface="Arial" panose="020B0604020202020204" pitchFamily="34" charset="0"/>
              <a:buChar char="•"/>
            </a:pPr>
            <a:r>
              <a:rPr lang="en-US" sz="1600" dirty="0"/>
              <a:t>All detectors received </a:t>
            </a:r>
            <a:r>
              <a:rPr lang="en-US" sz="1600" b="1" dirty="0"/>
              <a:t>identical alert evidence</a:t>
            </a:r>
            <a:endParaRPr lang="en-US" sz="1600" dirty="0"/>
          </a:p>
          <a:p>
            <a:pPr>
              <a:buNone/>
            </a:pPr>
            <a:r>
              <a:rPr lang="en-US" sz="1500" b="1" dirty="0"/>
              <a:t>Detector Behavior Observed</a:t>
            </a:r>
          </a:p>
          <a:p>
            <a:pPr>
              <a:buNone/>
            </a:pPr>
            <a:r>
              <a:rPr lang="en-US" sz="1500" b="1" dirty="0"/>
              <a:t>Honest Detectors (RP6, RP8)</a:t>
            </a:r>
          </a:p>
          <a:p>
            <a:pPr>
              <a:buFont typeface="Arial" panose="020B0604020202020204" pitchFamily="34" charset="0"/>
              <a:buChar char="•"/>
            </a:pPr>
            <a:r>
              <a:rPr lang="en-US" sz="1500" dirty="0"/>
              <a:t>Correctly classified:</a:t>
            </a:r>
          </a:p>
          <a:p>
            <a:pPr marL="742950" lvl="1" indent="-285750">
              <a:buFont typeface="Arial" panose="020B0604020202020204" pitchFamily="34" charset="0"/>
              <a:buChar char="•"/>
            </a:pPr>
            <a:r>
              <a:rPr lang="en-US" sz="1500" b="1" dirty="0"/>
              <a:t>SSH Connection Attempt</a:t>
            </a:r>
            <a:endParaRPr lang="en-US" sz="1500" dirty="0"/>
          </a:p>
          <a:p>
            <a:pPr marL="742950" lvl="1" indent="-285750">
              <a:buFont typeface="Arial" panose="020B0604020202020204" pitchFamily="34" charset="0"/>
              <a:buChar char="•"/>
            </a:pPr>
            <a:r>
              <a:rPr lang="en-US" sz="1500" b="1" dirty="0"/>
              <a:t>Multiple Connection Attempts</a:t>
            </a:r>
            <a:endParaRPr lang="en-US" sz="1500" dirty="0"/>
          </a:p>
          <a:p>
            <a:pPr>
              <a:buFont typeface="Arial" panose="020B0604020202020204" pitchFamily="34" charset="0"/>
              <a:buChar char="•"/>
            </a:pPr>
            <a:r>
              <a:rPr lang="en-US" sz="1500" dirty="0"/>
              <a:t>Sent consistent votes to coordinator</a:t>
            </a:r>
          </a:p>
          <a:p>
            <a:pPr>
              <a:buNone/>
            </a:pPr>
            <a:r>
              <a:rPr lang="en-US" sz="1500" b="1" dirty="0"/>
              <a:t>Byzantine Detector (RP8-Virtual)</a:t>
            </a:r>
          </a:p>
          <a:p>
            <a:pPr>
              <a:buFont typeface="Arial" panose="020B0604020202020204" pitchFamily="34" charset="0"/>
              <a:buChar char="•"/>
            </a:pPr>
            <a:r>
              <a:rPr lang="en-US" sz="1500" dirty="0"/>
              <a:t>Intentionally misclassified the attack</a:t>
            </a:r>
          </a:p>
          <a:p>
            <a:pPr>
              <a:buFont typeface="Arial" panose="020B0604020202020204" pitchFamily="34" charset="0"/>
              <a:buChar char="•"/>
            </a:pPr>
            <a:r>
              <a:rPr lang="en-US" sz="1500" dirty="0"/>
              <a:t>Examples:</a:t>
            </a:r>
          </a:p>
          <a:p>
            <a:pPr marL="742950" lvl="1" indent="-285750">
              <a:buFont typeface="Arial" panose="020B0604020202020204" pitchFamily="34" charset="0"/>
              <a:buChar char="•"/>
            </a:pPr>
            <a:r>
              <a:rPr lang="en-US" sz="1500" dirty="0"/>
              <a:t>Reported </a:t>
            </a:r>
            <a:r>
              <a:rPr lang="en-US" sz="1500" b="1" dirty="0"/>
              <a:t>Port Scan</a:t>
            </a:r>
            <a:endParaRPr lang="en-US" sz="1500" dirty="0"/>
          </a:p>
          <a:p>
            <a:pPr marL="742950" lvl="1" indent="-285750">
              <a:buFont typeface="Arial" panose="020B0604020202020204" pitchFamily="34" charset="0"/>
              <a:buChar char="•"/>
            </a:pPr>
            <a:r>
              <a:rPr lang="en-US" sz="1500" dirty="0"/>
              <a:t>Reported unrelated attack types</a:t>
            </a:r>
          </a:p>
          <a:p>
            <a:pPr>
              <a:buFont typeface="Arial" panose="020B0604020202020204" pitchFamily="34" charset="0"/>
              <a:buChar char="•"/>
            </a:pPr>
            <a:r>
              <a:rPr lang="en-US" sz="1500" dirty="0"/>
              <a:t>Behavior was:</a:t>
            </a:r>
          </a:p>
          <a:p>
            <a:pPr marL="742950" lvl="1" indent="-285750">
              <a:buFont typeface="Arial" panose="020B0604020202020204" pitchFamily="34" charset="0"/>
              <a:buChar char="•"/>
            </a:pPr>
            <a:r>
              <a:rPr lang="en-US" sz="1500" dirty="0"/>
              <a:t>Arbitrary</a:t>
            </a:r>
          </a:p>
          <a:p>
            <a:pPr marL="742950" lvl="1" indent="-285750">
              <a:buFont typeface="Arial" panose="020B0604020202020204" pitchFamily="34" charset="0"/>
              <a:buChar char="•"/>
            </a:pPr>
            <a:r>
              <a:rPr lang="en-US" sz="1500" dirty="0"/>
              <a:t>Inconsistent</a:t>
            </a:r>
          </a:p>
          <a:p>
            <a:pPr marL="742950" lvl="1" indent="-285750">
              <a:buFont typeface="Arial" panose="020B0604020202020204" pitchFamily="34" charset="0"/>
              <a:buChar char="•"/>
            </a:pPr>
            <a:r>
              <a:rPr lang="en-US" sz="1500" dirty="0"/>
              <a:t>Adversarial</a:t>
            </a:r>
          </a:p>
          <a:p>
            <a:endParaRPr lang="en-US" sz="1400" dirty="0"/>
          </a:p>
        </p:txBody>
      </p:sp>
      <p:sp>
        <p:nvSpPr>
          <p:cNvPr id="4" name="Content Placeholder 3">
            <a:extLst>
              <a:ext uri="{FF2B5EF4-FFF2-40B4-BE49-F238E27FC236}">
                <a16:creationId xmlns:a16="http://schemas.microsoft.com/office/drawing/2014/main" id="{F0E50300-C232-BFAC-983E-416155ABD225}"/>
              </a:ext>
            </a:extLst>
          </p:cNvPr>
          <p:cNvSpPr>
            <a:spLocks noGrp="1"/>
          </p:cNvSpPr>
          <p:nvPr>
            <p:ph sz="half" idx="2"/>
          </p:nvPr>
        </p:nvSpPr>
        <p:spPr>
          <a:xfrm>
            <a:off x="6172200" y="937846"/>
            <a:ext cx="5181600" cy="5826369"/>
          </a:xfrm>
        </p:spPr>
        <p:txBody>
          <a:bodyPr>
            <a:normAutofit lnSpcReduction="10000"/>
          </a:bodyPr>
          <a:lstStyle/>
          <a:p>
            <a:pPr>
              <a:buNone/>
            </a:pPr>
            <a:r>
              <a:rPr lang="en-US" sz="1800" b="1" dirty="0"/>
              <a:t>Consensus Decision</a:t>
            </a:r>
          </a:p>
          <a:p>
            <a:pPr>
              <a:buFont typeface="Arial" panose="020B0604020202020204" pitchFamily="34" charset="0"/>
              <a:buChar char="•"/>
            </a:pPr>
            <a:r>
              <a:rPr lang="en-US" sz="1800" dirty="0"/>
              <a:t>Votes were grouped by attack type</a:t>
            </a:r>
          </a:p>
          <a:p>
            <a:pPr>
              <a:buFont typeface="Arial" panose="020B0604020202020204" pitchFamily="34" charset="0"/>
              <a:buChar char="•"/>
            </a:pPr>
            <a:r>
              <a:rPr lang="en-US" sz="1800" b="1" dirty="0"/>
              <a:t>2 out of 3 detectors agreed</a:t>
            </a:r>
            <a:endParaRPr lang="en-US" sz="1800" dirty="0"/>
          </a:p>
          <a:p>
            <a:pPr>
              <a:buFont typeface="Arial" panose="020B0604020202020204" pitchFamily="34" charset="0"/>
              <a:buChar char="•"/>
            </a:pPr>
            <a:r>
              <a:rPr lang="en-US" sz="1800" dirty="0"/>
              <a:t>Correct attack (</a:t>
            </a:r>
            <a:r>
              <a:rPr lang="en-US" sz="1800" b="1" dirty="0"/>
              <a:t>SSH Brute Force</a:t>
            </a:r>
            <a:r>
              <a:rPr lang="en-US" sz="1800" dirty="0"/>
              <a:t>) was accepted</a:t>
            </a:r>
          </a:p>
          <a:p>
            <a:pPr>
              <a:buFont typeface="Arial" panose="020B0604020202020204" pitchFamily="34" charset="0"/>
              <a:buChar char="•"/>
            </a:pPr>
            <a:r>
              <a:rPr lang="en-US" sz="1800" dirty="0"/>
              <a:t>Byzantine vote was </a:t>
            </a:r>
            <a:r>
              <a:rPr lang="en-US" sz="1800" b="1" dirty="0"/>
              <a:t>outvoted and ignored</a:t>
            </a:r>
          </a:p>
          <a:p>
            <a:pPr marL="0" indent="0">
              <a:buNone/>
            </a:pPr>
            <a:endParaRPr lang="en-US" sz="1800" dirty="0"/>
          </a:p>
          <a:p>
            <a:pPr>
              <a:buNone/>
            </a:pPr>
            <a:r>
              <a:rPr lang="en-US" sz="1800" b="1" dirty="0"/>
              <a:t>Key Insight from Attack-2</a:t>
            </a:r>
          </a:p>
          <a:p>
            <a:pPr>
              <a:buNone/>
            </a:pPr>
            <a:r>
              <a:rPr lang="en-US" sz="1800" dirty="0"/>
              <a:t>✔ The system remained correct despite deliberate deception</a:t>
            </a:r>
            <a:br>
              <a:rPr lang="en-US" sz="1800" dirty="0"/>
            </a:br>
            <a:r>
              <a:rPr lang="en-US" sz="1800" dirty="0"/>
              <a:t>✔ No single detector controlled the decision</a:t>
            </a:r>
            <a:br>
              <a:rPr lang="en-US" sz="1800" dirty="0"/>
            </a:br>
            <a:r>
              <a:rPr lang="en-US" sz="1800" dirty="0"/>
              <a:t>✔ Trust was </a:t>
            </a:r>
            <a:r>
              <a:rPr lang="en-US" sz="1800" b="1" dirty="0"/>
              <a:t>verified through consensus</a:t>
            </a:r>
            <a:r>
              <a:rPr lang="en-US" sz="1800" dirty="0"/>
              <a:t>, not assumed</a:t>
            </a:r>
          </a:p>
          <a:p>
            <a:pPr>
              <a:buNone/>
            </a:pPr>
            <a:r>
              <a:rPr lang="en-US" sz="1800" b="1" dirty="0"/>
              <a:t>Even when a detector lies about authentication attacks, majority agreement preserves correctness.</a:t>
            </a:r>
            <a:endParaRPr lang="en-US" sz="1800" dirty="0"/>
          </a:p>
          <a:p>
            <a:endParaRPr lang="en-US" sz="1400" dirty="0"/>
          </a:p>
        </p:txBody>
      </p:sp>
    </p:spTree>
    <p:extLst>
      <p:ext uri="{BB962C8B-B14F-4D97-AF65-F5344CB8AC3E}">
        <p14:creationId xmlns:p14="http://schemas.microsoft.com/office/powerpoint/2010/main" val="2426067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61E50-3693-657A-C05E-C23E0F828707}"/>
              </a:ext>
            </a:extLst>
          </p:cNvPr>
          <p:cNvSpPr>
            <a:spLocks noGrp="1"/>
          </p:cNvSpPr>
          <p:nvPr>
            <p:ph type="title"/>
          </p:nvPr>
        </p:nvSpPr>
        <p:spPr>
          <a:xfrm>
            <a:off x="289169" y="1"/>
            <a:ext cx="11064631" cy="750276"/>
          </a:xfrm>
        </p:spPr>
        <p:txBody>
          <a:bodyPr>
            <a:normAutofit/>
          </a:bodyPr>
          <a:lstStyle/>
          <a:p>
            <a:r>
              <a:rPr lang="en-US" sz="3600" b="1" dirty="0"/>
              <a:t>    Attack-3: Port Range Scan &amp; Detection Evidence</a:t>
            </a:r>
          </a:p>
        </p:txBody>
      </p:sp>
      <p:pic>
        <p:nvPicPr>
          <p:cNvPr id="6" name="Content Placeholder 5">
            <a:extLst>
              <a:ext uri="{FF2B5EF4-FFF2-40B4-BE49-F238E27FC236}">
                <a16:creationId xmlns:a16="http://schemas.microsoft.com/office/drawing/2014/main" id="{98AD131F-0D82-7164-8355-78BF18EE52D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5576" y="856349"/>
            <a:ext cx="5864225" cy="2343244"/>
          </a:xfrm>
        </p:spPr>
      </p:pic>
      <p:pic>
        <p:nvPicPr>
          <p:cNvPr id="8" name="Content Placeholder 7">
            <a:extLst>
              <a:ext uri="{FF2B5EF4-FFF2-40B4-BE49-F238E27FC236}">
                <a16:creationId xmlns:a16="http://schemas.microsoft.com/office/drawing/2014/main" id="{B451830C-C6DC-5D0E-8EB9-2381F160FC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55576" y="3305665"/>
            <a:ext cx="6019800" cy="3455423"/>
          </a:xfrm>
        </p:spPr>
      </p:pic>
      <p:pic>
        <p:nvPicPr>
          <p:cNvPr id="10" name="Picture 9">
            <a:extLst>
              <a:ext uri="{FF2B5EF4-FFF2-40B4-BE49-F238E27FC236}">
                <a16:creationId xmlns:a16="http://schemas.microsoft.com/office/drawing/2014/main" id="{F6CF61E9-F9BA-6A91-6EB2-2D94CD4EDC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769" y="750277"/>
            <a:ext cx="5488354" cy="5908431"/>
          </a:xfrm>
          <a:prstGeom prst="rect">
            <a:avLst/>
          </a:prstGeom>
        </p:spPr>
      </p:pic>
    </p:spTree>
    <p:extLst>
      <p:ext uri="{BB962C8B-B14F-4D97-AF65-F5344CB8AC3E}">
        <p14:creationId xmlns:p14="http://schemas.microsoft.com/office/powerpoint/2010/main" val="2660532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2CF1-216B-A2C5-79C2-37976D0E5F85}"/>
              </a:ext>
            </a:extLst>
          </p:cNvPr>
          <p:cNvSpPr>
            <a:spLocks noGrp="1"/>
          </p:cNvSpPr>
          <p:nvPr>
            <p:ph type="title"/>
          </p:nvPr>
        </p:nvSpPr>
        <p:spPr>
          <a:xfrm>
            <a:off x="140677" y="125046"/>
            <a:ext cx="11918461" cy="914400"/>
          </a:xfrm>
        </p:spPr>
        <p:txBody>
          <a:bodyPr/>
          <a:lstStyle/>
          <a:p>
            <a:r>
              <a:rPr lang="en-US" b="1" dirty="0"/>
              <a:t>Attack-3: Byzantine Behavior &amp; Consensus Outcome</a:t>
            </a:r>
          </a:p>
        </p:txBody>
      </p:sp>
      <p:sp>
        <p:nvSpPr>
          <p:cNvPr id="3" name="Content Placeholder 2">
            <a:extLst>
              <a:ext uri="{FF2B5EF4-FFF2-40B4-BE49-F238E27FC236}">
                <a16:creationId xmlns:a16="http://schemas.microsoft.com/office/drawing/2014/main" id="{76E35343-7EBE-6D55-4122-A339629AAF71}"/>
              </a:ext>
            </a:extLst>
          </p:cNvPr>
          <p:cNvSpPr>
            <a:spLocks noGrp="1"/>
          </p:cNvSpPr>
          <p:nvPr>
            <p:ph sz="half" idx="1"/>
          </p:nvPr>
        </p:nvSpPr>
        <p:spPr>
          <a:xfrm>
            <a:off x="132862" y="937846"/>
            <a:ext cx="5886938" cy="5795108"/>
          </a:xfrm>
        </p:spPr>
        <p:txBody>
          <a:bodyPr>
            <a:normAutofit lnSpcReduction="10000"/>
          </a:bodyPr>
          <a:lstStyle/>
          <a:p>
            <a:pPr>
              <a:buNone/>
            </a:pPr>
            <a:r>
              <a:rPr lang="en-US" sz="1600" b="1" dirty="0"/>
              <a:t>Detector Behavior Observed</a:t>
            </a:r>
          </a:p>
          <a:p>
            <a:pPr>
              <a:buNone/>
            </a:pPr>
            <a:r>
              <a:rPr lang="en-US" sz="1600" b="1" dirty="0"/>
              <a:t>Honest Detectors (RP6, RP8)</a:t>
            </a:r>
            <a:endParaRPr lang="en-US" sz="1600" dirty="0"/>
          </a:p>
          <a:p>
            <a:pPr>
              <a:buFont typeface="Arial" panose="020B0604020202020204" pitchFamily="34" charset="0"/>
              <a:buChar char="•"/>
            </a:pPr>
            <a:r>
              <a:rPr lang="en-US" sz="1400" dirty="0"/>
              <a:t>Correctly classified the activity as:</a:t>
            </a:r>
          </a:p>
          <a:p>
            <a:pPr marL="742950" lvl="1" indent="-285750">
              <a:buFont typeface="Arial" panose="020B0604020202020204" pitchFamily="34" charset="0"/>
              <a:buChar char="•"/>
            </a:pPr>
            <a:r>
              <a:rPr lang="en-US" sz="1400" b="1" dirty="0"/>
              <a:t>Port Scan</a:t>
            </a:r>
            <a:endParaRPr lang="en-US" sz="1400" dirty="0"/>
          </a:p>
          <a:p>
            <a:pPr marL="742950" lvl="1" indent="-285750">
              <a:buFont typeface="Arial" panose="020B0604020202020204" pitchFamily="34" charset="0"/>
              <a:buChar char="•"/>
            </a:pPr>
            <a:r>
              <a:rPr lang="en-US" sz="1400" b="1" dirty="0"/>
              <a:t>Multiple Connection Attempts</a:t>
            </a:r>
            <a:endParaRPr lang="en-US" sz="1400" dirty="0"/>
          </a:p>
          <a:p>
            <a:pPr>
              <a:buFont typeface="Arial" panose="020B0604020202020204" pitchFamily="34" charset="0"/>
              <a:buChar char="•"/>
            </a:pPr>
            <a:r>
              <a:rPr lang="en-US" sz="1400" dirty="0"/>
              <a:t>Sent </a:t>
            </a:r>
            <a:r>
              <a:rPr lang="en-US" sz="1400" b="1" dirty="0"/>
              <a:t>consistent votes</a:t>
            </a:r>
            <a:r>
              <a:rPr lang="en-US" sz="1400" dirty="0"/>
              <a:t> to coordinator</a:t>
            </a:r>
          </a:p>
          <a:p>
            <a:pPr>
              <a:buFont typeface="Arial" panose="020B0604020202020204" pitchFamily="34" charset="0"/>
              <a:buChar char="•"/>
            </a:pPr>
            <a:r>
              <a:rPr lang="en-US" sz="1400" dirty="0"/>
              <a:t>Behavior:</a:t>
            </a:r>
          </a:p>
          <a:p>
            <a:pPr marL="742950" lvl="1" indent="-285750">
              <a:buFont typeface="Arial" panose="020B0604020202020204" pitchFamily="34" charset="0"/>
              <a:buChar char="•"/>
            </a:pPr>
            <a:r>
              <a:rPr lang="en-US" sz="1400" dirty="0"/>
              <a:t>Deterministic</a:t>
            </a:r>
          </a:p>
          <a:p>
            <a:pPr marL="742950" lvl="1" indent="-285750">
              <a:buFont typeface="Arial" panose="020B0604020202020204" pitchFamily="34" charset="0"/>
              <a:buChar char="•"/>
            </a:pPr>
            <a:r>
              <a:rPr lang="en-US" sz="1400" dirty="0"/>
              <a:t>Repeatable</a:t>
            </a:r>
          </a:p>
          <a:p>
            <a:pPr marL="742950" lvl="1" indent="-285750">
              <a:buFont typeface="Arial" panose="020B0604020202020204" pitchFamily="34" charset="0"/>
              <a:buChar char="•"/>
            </a:pPr>
            <a:r>
              <a:rPr lang="en-US" sz="1400" dirty="0"/>
              <a:t>Aligned with ground truth</a:t>
            </a:r>
          </a:p>
          <a:p>
            <a:pPr>
              <a:buNone/>
            </a:pPr>
            <a:r>
              <a:rPr lang="en-US" sz="1700" b="1" dirty="0"/>
              <a:t>Byzantine Detector (RP8-Virtual)</a:t>
            </a:r>
            <a:endParaRPr lang="en-US" sz="1700" dirty="0"/>
          </a:p>
          <a:p>
            <a:pPr>
              <a:buFont typeface="Arial" panose="020B0604020202020204" pitchFamily="34" charset="0"/>
              <a:buChar char="•"/>
            </a:pPr>
            <a:r>
              <a:rPr lang="en-US" sz="1700" dirty="0"/>
              <a:t>Intentionally misclassified the attack</a:t>
            </a:r>
          </a:p>
          <a:p>
            <a:pPr>
              <a:buFont typeface="Arial" panose="020B0604020202020204" pitchFamily="34" charset="0"/>
              <a:buChar char="•"/>
            </a:pPr>
            <a:r>
              <a:rPr lang="en-US" sz="1700" dirty="0"/>
              <a:t>Examples of false reports:</a:t>
            </a:r>
          </a:p>
          <a:p>
            <a:pPr marL="742950" lvl="1" indent="-285750">
              <a:buFont typeface="Arial" panose="020B0604020202020204" pitchFamily="34" charset="0"/>
              <a:buChar char="•"/>
            </a:pPr>
            <a:r>
              <a:rPr lang="en-US" sz="1700" dirty="0"/>
              <a:t>Reported unrelated attack types</a:t>
            </a:r>
          </a:p>
          <a:p>
            <a:pPr marL="742950" lvl="1" indent="-285750">
              <a:buFont typeface="Arial" panose="020B0604020202020204" pitchFamily="34" charset="0"/>
              <a:buChar char="•"/>
            </a:pPr>
            <a:r>
              <a:rPr lang="en-US" sz="1700" dirty="0"/>
              <a:t>Randomized labels across alerts</a:t>
            </a:r>
          </a:p>
          <a:p>
            <a:pPr>
              <a:buFont typeface="Arial" panose="020B0604020202020204" pitchFamily="34" charset="0"/>
              <a:buChar char="•"/>
            </a:pPr>
            <a:r>
              <a:rPr lang="en-US" sz="1700" dirty="0"/>
              <a:t>Behavior:</a:t>
            </a:r>
          </a:p>
          <a:p>
            <a:pPr marL="742950" lvl="1" indent="-285750">
              <a:buFont typeface="Arial" panose="020B0604020202020204" pitchFamily="34" charset="0"/>
              <a:buChar char="•"/>
            </a:pPr>
            <a:r>
              <a:rPr lang="en-US" sz="1700" dirty="0"/>
              <a:t>Arbitrary</a:t>
            </a:r>
          </a:p>
          <a:p>
            <a:pPr marL="742950" lvl="1" indent="-285750">
              <a:buFont typeface="Arial" panose="020B0604020202020204" pitchFamily="34" charset="0"/>
              <a:buChar char="•"/>
            </a:pPr>
            <a:r>
              <a:rPr lang="en-US" sz="1700" dirty="0"/>
              <a:t>Inconsistent</a:t>
            </a:r>
          </a:p>
          <a:p>
            <a:pPr marL="742950" lvl="1" indent="-285750">
              <a:buFont typeface="Arial" panose="020B0604020202020204" pitchFamily="34" charset="0"/>
              <a:buChar char="•"/>
            </a:pPr>
            <a:r>
              <a:rPr lang="en-US" sz="1700" dirty="0"/>
              <a:t>Adversarial</a:t>
            </a:r>
          </a:p>
          <a:p>
            <a:endParaRPr lang="en-US" sz="1400" dirty="0"/>
          </a:p>
        </p:txBody>
      </p:sp>
      <p:sp>
        <p:nvSpPr>
          <p:cNvPr id="4" name="Content Placeholder 3">
            <a:extLst>
              <a:ext uri="{FF2B5EF4-FFF2-40B4-BE49-F238E27FC236}">
                <a16:creationId xmlns:a16="http://schemas.microsoft.com/office/drawing/2014/main" id="{86C32857-DA41-A852-7491-AD8DB0F0E2D7}"/>
              </a:ext>
            </a:extLst>
          </p:cNvPr>
          <p:cNvSpPr>
            <a:spLocks noGrp="1"/>
          </p:cNvSpPr>
          <p:nvPr>
            <p:ph sz="half" idx="2"/>
          </p:nvPr>
        </p:nvSpPr>
        <p:spPr>
          <a:xfrm>
            <a:off x="6172199" y="937846"/>
            <a:ext cx="5879123" cy="5728677"/>
          </a:xfrm>
        </p:spPr>
        <p:txBody>
          <a:bodyPr>
            <a:normAutofit lnSpcReduction="10000"/>
          </a:bodyPr>
          <a:lstStyle/>
          <a:p>
            <a:pPr>
              <a:buNone/>
            </a:pPr>
            <a:r>
              <a:rPr lang="en-US" b="1" dirty="0"/>
              <a:t>Consensus Decision</a:t>
            </a:r>
          </a:p>
          <a:p>
            <a:pPr>
              <a:buNone/>
            </a:pPr>
            <a:r>
              <a:rPr lang="en-US" sz="2400" dirty="0"/>
              <a:t>Consensus Processing</a:t>
            </a:r>
          </a:p>
          <a:p>
            <a:pPr>
              <a:buFont typeface="Arial" panose="020B0604020202020204" pitchFamily="34" charset="0"/>
              <a:buChar char="•"/>
            </a:pPr>
            <a:r>
              <a:rPr lang="en-US" sz="2400" dirty="0"/>
              <a:t>Votes grouped by attack type</a:t>
            </a:r>
          </a:p>
          <a:p>
            <a:pPr>
              <a:buFont typeface="Arial" panose="020B0604020202020204" pitchFamily="34" charset="0"/>
              <a:buChar char="•"/>
            </a:pPr>
            <a:r>
              <a:rPr lang="en-US" sz="2400" dirty="0"/>
              <a:t>Threshold applied: </a:t>
            </a:r>
            <a:r>
              <a:rPr lang="en-US" sz="2400" b="1" dirty="0"/>
              <a:t>2 out of 3 (66.7%)</a:t>
            </a:r>
            <a:endParaRPr lang="en-US" sz="2400" dirty="0"/>
          </a:p>
          <a:p>
            <a:pPr>
              <a:buFont typeface="Arial" panose="020B0604020202020204" pitchFamily="34" charset="0"/>
              <a:buChar char="•"/>
            </a:pPr>
            <a:r>
              <a:rPr lang="en-US" sz="2400" dirty="0"/>
              <a:t>Honest detectors formed majority</a:t>
            </a:r>
          </a:p>
          <a:p>
            <a:pPr>
              <a:buNone/>
            </a:pPr>
            <a:r>
              <a:rPr lang="en-US" sz="2400" b="1" dirty="0"/>
              <a:t>Final Outcome</a:t>
            </a:r>
            <a:endParaRPr lang="en-US" sz="2400" dirty="0"/>
          </a:p>
          <a:p>
            <a:pPr>
              <a:buFont typeface="Arial" panose="020B0604020202020204" pitchFamily="34" charset="0"/>
              <a:buChar char="•"/>
            </a:pPr>
            <a:r>
              <a:rPr lang="en-US" sz="2400" dirty="0"/>
              <a:t>✅ Correct attack (Port Range Scan) accepted</a:t>
            </a:r>
          </a:p>
          <a:p>
            <a:pPr>
              <a:buFont typeface="Arial" panose="020B0604020202020204" pitchFamily="34" charset="0"/>
              <a:buChar char="•"/>
            </a:pPr>
            <a:r>
              <a:rPr lang="en-US" sz="2400" dirty="0"/>
              <a:t>❌ Byzantine vote ignored</a:t>
            </a:r>
          </a:p>
          <a:p>
            <a:pPr>
              <a:buFont typeface="Arial" panose="020B0604020202020204" pitchFamily="34" charset="0"/>
              <a:buChar char="•"/>
            </a:pPr>
            <a:r>
              <a:rPr lang="en-US" sz="2400" dirty="0"/>
              <a:t>✅ Consensus reached successfully</a:t>
            </a:r>
          </a:p>
          <a:p>
            <a:endParaRPr lang="en-US" sz="1600" dirty="0"/>
          </a:p>
        </p:txBody>
      </p:sp>
    </p:spTree>
    <p:extLst>
      <p:ext uri="{BB962C8B-B14F-4D97-AF65-F5344CB8AC3E}">
        <p14:creationId xmlns:p14="http://schemas.microsoft.com/office/powerpoint/2010/main" val="2487819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8ABFA-A07C-EB98-8B29-2AD96E75A142}"/>
              </a:ext>
            </a:extLst>
          </p:cNvPr>
          <p:cNvSpPr>
            <a:spLocks noGrp="1"/>
          </p:cNvSpPr>
          <p:nvPr>
            <p:ph type="title"/>
          </p:nvPr>
        </p:nvSpPr>
        <p:spPr>
          <a:xfrm>
            <a:off x="85969" y="54709"/>
            <a:ext cx="11267831" cy="679937"/>
          </a:xfrm>
        </p:spPr>
        <p:txBody>
          <a:bodyPr>
            <a:normAutofit fontScale="90000"/>
          </a:bodyPr>
          <a:lstStyle/>
          <a:p>
            <a:r>
              <a:rPr lang="en-US" b="1" dirty="0"/>
              <a:t>Attack-4: SSH Brute Force Attack &amp; Detection Evidence</a:t>
            </a:r>
          </a:p>
        </p:txBody>
      </p:sp>
      <p:pic>
        <p:nvPicPr>
          <p:cNvPr id="6" name="Content Placeholder 5">
            <a:extLst>
              <a:ext uri="{FF2B5EF4-FFF2-40B4-BE49-F238E27FC236}">
                <a16:creationId xmlns:a16="http://schemas.microsoft.com/office/drawing/2014/main" id="{382880D4-1F51-F987-3A5A-DB30560BBCC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4952" y="734646"/>
            <a:ext cx="5784850" cy="3412094"/>
          </a:xfrm>
        </p:spPr>
      </p:pic>
      <p:sp>
        <p:nvSpPr>
          <p:cNvPr id="4" name="Content Placeholder 3">
            <a:extLst>
              <a:ext uri="{FF2B5EF4-FFF2-40B4-BE49-F238E27FC236}">
                <a16:creationId xmlns:a16="http://schemas.microsoft.com/office/drawing/2014/main" id="{E58DE644-C1D8-543A-48D0-BFEC5713B013}"/>
              </a:ext>
            </a:extLst>
          </p:cNvPr>
          <p:cNvSpPr>
            <a:spLocks noGrp="1"/>
          </p:cNvSpPr>
          <p:nvPr>
            <p:ph sz="half" idx="2"/>
          </p:nvPr>
        </p:nvSpPr>
        <p:spPr>
          <a:xfrm>
            <a:off x="6172199" y="820615"/>
            <a:ext cx="5699369" cy="5982676"/>
          </a:xfrm>
        </p:spPr>
        <p:txBody>
          <a:bodyPr>
            <a:normAutofit fontScale="70000" lnSpcReduction="20000"/>
          </a:bodyPr>
          <a:lstStyle/>
          <a:p>
            <a:pPr>
              <a:buNone/>
            </a:pPr>
            <a:r>
              <a:rPr lang="en-US" sz="1900" b="1" dirty="0"/>
              <a:t>Attack Description</a:t>
            </a:r>
          </a:p>
          <a:p>
            <a:pPr>
              <a:buFont typeface="Arial" panose="020B0604020202020204" pitchFamily="34" charset="0"/>
              <a:buChar char="•"/>
            </a:pPr>
            <a:r>
              <a:rPr lang="en-US" sz="1900" dirty="0"/>
              <a:t>External attacker launched </a:t>
            </a:r>
            <a:r>
              <a:rPr lang="en-US" sz="1900" b="1" dirty="0"/>
              <a:t>high-frequency SSH authentication attempts</a:t>
            </a:r>
            <a:endParaRPr lang="en-US" sz="1900" dirty="0"/>
          </a:p>
          <a:p>
            <a:pPr>
              <a:buFont typeface="Arial" panose="020B0604020202020204" pitchFamily="34" charset="0"/>
              <a:buChar char="•"/>
            </a:pPr>
            <a:r>
              <a:rPr lang="en-US" sz="1900" dirty="0"/>
              <a:t>Target: Raspberry Pi running SSH service on port </a:t>
            </a:r>
            <a:r>
              <a:rPr lang="en-US" sz="1900" b="1" dirty="0"/>
              <a:t>22</a:t>
            </a:r>
            <a:endParaRPr lang="en-US" sz="1900" dirty="0"/>
          </a:p>
          <a:p>
            <a:pPr>
              <a:buFont typeface="Arial" panose="020B0604020202020204" pitchFamily="34" charset="0"/>
              <a:buChar char="•"/>
            </a:pPr>
            <a:r>
              <a:rPr lang="en-US" sz="1900" dirty="0"/>
              <a:t>Objective:</a:t>
            </a:r>
          </a:p>
          <a:p>
            <a:pPr marL="742950" lvl="1" indent="-285750">
              <a:buFont typeface="Arial" panose="020B0604020202020204" pitchFamily="34" charset="0"/>
              <a:buChar char="•"/>
            </a:pPr>
            <a:r>
              <a:rPr lang="en-US" sz="1900" dirty="0"/>
              <a:t>Guess credentials</a:t>
            </a:r>
          </a:p>
          <a:p>
            <a:pPr marL="742950" lvl="1" indent="-285750">
              <a:buFont typeface="Arial" panose="020B0604020202020204" pitchFamily="34" charset="0"/>
              <a:buChar char="•"/>
            </a:pPr>
            <a:r>
              <a:rPr lang="en-US" sz="1900" dirty="0"/>
              <a:t>Abuse authentication mechanisms</a:t>
            </a:r>
          </a:p>
          <a:p>
            <a:pPr marL="742950" lvl="1" indent="-285750">
              <a:buFont typeface="Arial" panose="020B0604020202020204" pitchFamily="34" charset="0"/>
              <a:buChar char="•"/>
            </a:pPr>
            <a:r>
              <a:rPr lang="en-US" sz="1900" dirty="0"/>
              <a:t>Blend malicious attempts with normal login traffic</a:t>
            </a:r>
          </a:p>
          <a:p>
            <a:pPr>
              <a:buNone/>
            </a:pPr>
            <a:r>
              <a:rPr lang="en-US" sz="1900" b="1" dirty="0"/>
              <a:t>Why This Attack Is Important</a:t>
            </a:r>
          </a:p>
          <a:p>
            <a:pPr>
              <a:buFont typeface="Arial" panose="020B0604020202020204" pitchFamily="34" charset="0"/>
              <a:buChar char="•"/>
            </a:pPr>
            <a:r>
              <a:rPr lang="en-US" sz="1900" dirty="0"/>
              <a:t>SSH brute force attacks are:</a:t>
            </a:r>
          </a:p>
          <a:p>
            <a:pPr marL="742950" lvl="1" indent="-285750">
              <a:buFont typeface="Arial" panose="020B0604020202020204" pitchFamily="34" charset="0"/>
              <a:buChar char="•"/>
            </a:pPr>
            <a:r>
              <a:rPr lang="en-US" sz="1900" dirty="0"/>
              <a:t>Extremely common in real networks</a:t>
            </a:r>
          </a:p>
          <a:p>
            <a:pPr marL="742950" lvl="1" indent="-285750">
              <a:buFont typeface="Arial" panose="020B0604020202020204" pitchFamily="34" charset="0"/>
              <a:buChar char="•"/>
            </a:pPr>
            <a:r>
              <a:rPr lang="en-US" sz="1900" dirty="0"/>
              <a:t>Often dismissed as “normal login noise”</a:t>
            </a:r>
          </a:p>
          <a:p>
            <a:pPr marL="742950" lvl="1" indent="-285750">
              <a:buFont typeface="Arial" panose="020B0604020202020204" pitchFamily="34" charset="0"/>
              <a:buChar char="•"/>
            </a:pPr>
            <a:r>
              <a:rPr lang="en-US" sz="1900" dirty="0"/>
              <a:t>Dangerous when IDS decisions are blindly trusted</a:t>
            </a:r>
          </a:p>
          <a:p>
            <a:pPr>
              <a:buFont typeface="Arial" panose="020B0604020202020204" pitchFamily="34" charset="0"/>
              <a:buChar char="•"/>
            </a:pPr>
            <a:r>
              <a:rPr lang="en-US" sz="1900" dirty="0"/>
              <a:t>Detection depends on </a:t>
            </a:r>
            <a:r>
              <a:rPr lang="en-US" sz="1900" b="1" dirty="0"/>
              <a:t>pattern recognition over time</a:t>
            </a:r>
            <a:r>
              <a:rPr lang="en-US" sz="1900" dirty="0"/>
              <a:t>, not single packets</a:t>
            </a:r>
          </a:p>
          <a:p>
            <a:pPr>
              <a:buNone/>
            </a:pPr>
            <a:r>
              <a:rPr lang="en-US" sz="1900" b="1" dirty="0"/>
              <a:t>Detection Evidence Observed</a:t>
            </a:r>
          </a:p>
          <a:p>
            <a:pPr>
              <a:buFont typeface="Arial" panose="020B0604020202020204" pitchFamily="34" charset="0"/>
              <a:buChar char="•"/>
            </a:pPr>
            <a:r>
              <a:rPr lang="en-US" sz="1900" dirty="0"/>
              <a:t>Suricata generated </a:t>
            </a:r>
            <a:r>
              <a:rPr lang="en-US" sz="1900" b="1" dirty="0"/>
              <a:t>multiple SSH-related alerts</a:t>
            </a:r>
            <a:r>
              <a:rPr lang="en-US" sz="1900" dirty="0"/>
              <a:t>, including:</a:t>
            </a:r>
          </a:p>
          <a:p>
            <a:pPr marL="742950" lvl="1" indent="-285750">
              <a:buFont typeface="Arial" panose="020B0604020202020204" pitchFamily="34" charset="0"/>
              <a:buChar char="•"/>
            </a:pPr>
            <a:r>
              <a:rPr lang="en-US" sz="1900" dirty="0">
                <a:latin typeface="Courier New" panose="02070309020205020404" pitchFamily="49" charset="0"/>
              </a:rPr>
              <a:t>SSH Connection Attempt</a:t>
            </a:r>
            <a:endParaRPr lang="en-US" sz="1900" dirty="0"/>
          </a:p>
          <a:p>
            <a:pPr marL="742950" lvl="1" indent="-285750">
              <a:buFont typeface="Arial" panose="020B0604020202020204" pitchFamily="34" charset="0"/>
              <a:buChar char="•"/>
            </a:pPr>
            <a:r>
              <a:rPr lang="en-US" sz="1900" dirty="0">
                <a:latin typeface="Courier New" panose="02070309020205020404" pitchFamily="49" charset="0"/>
              </a:rPr>
              <a:t>Multiple Connection Attempts</a:t>
            </a:r>
            <a:endParaRPr lang="en-US" sz="1900" dirty="0"/>
          </a:p>
          <a:p>
            <a:pPr>
              <a:buFont typeface="Arial" panose="020B0604020202020204" pitchFamily="34" charset="0"/>
              <a:buChar char="•"/>
            </a:pPr>
            <a:r>
              <a:rPr lang="en-US" sz="1900" dirty="0"/>
              <a:t>Alerts included:</a:t>
            </a:r>
          </a:p>
          <a:p>
            <a:pPr marL="742950" lvl="1" indent="-285750">
              <a:buFont typeface="Arial" panose="020B0604020202020204" pitchFamily="34" charset="0"/>
              <a:buChar char="•"/>
            </a:pPr>
            <a:r>
              <a:rPr lang="en-US" sz="1900" dirty="0"/>
              <a:t>Source IP</a:t>
            </a:r>
          </a:p>
          <a:p>
            <a:pPr marL="742950" lvl="1" indent="-285750"/>
            <a:r>
              <a:rPr lang="en-US" sz="1900" dirty="0"/>
              <a:t>Destination port (22) (Each attempt triggered TCP connections to port 22</a:t>
            </a:r>
          </a:p>
          <a:p>
            <a:pPr marL="742950" lvl="1" indent="-285750">
              <a:buFont typeface="Arial" panose="020B0604020202020204" pitchFamily="34" charset="0"/>
              <a:buChar char="•"/>
            </a:pPr>
            <a:r>
              <a:rPr lang="en-US" sz="1900" dirty="0"/>
              <a:t>Repeated timestamps indicating brute-force behavior</a:t>
            </a:r>
          </a:p>
          <a:p>
            <a:pPr>
              <a:buFont typeface="Arial" panose="020B0604020202020204" pitchFamily="34" charset="0"/>
              <a:buChar char="•"/>
            </a:pPr>
            <a:r>
              <a:rPr lang="en-US" sz="1900" dirty="0"/>
              <a:t>Identical alert evidence was distributed to:</a:t>
            </a:r>
          </a:p>
          <a:p>
            <a:pPr marL="742950" lvl="1" indent="-285750">
              <a:buFont typeface="Arial" panose="020B0604020202020204" pitchFamily="34" charset="0"/>
              <a:buChar char="•"/>
            </a:pPr>
            <a:r>
              <a:rPr lang="en-US" sz="1900" dirty="0"/>
              <a:t>RP6 (Honest)</a:t>
            </a:r>
          </a:p>
          <a:p>
            <a:pPr marL="742950" lvl="1" indent="-285750">
              <a:buFont typeface="Arial" panose="020B0604020202020204" pitchFamily="34" charset="0"/>
              <a:buChar char="•"/>
            </a:pPr>
            <a:r>
              <a:rPr lang="en-US" sz="1900" dirty="0"/>
              <a:t>RP8 (Honest)</a:t>
            </a:r>
          </a:p>
          <a:p>
            <a:pPr marL="742950" lvl="1" indent="-285750">
              <a:buFont typeface="Arial" panose="020B0604020202020204" pitchFamily="34" charset="0"/>
              <a:buChar char="•"/>
            </a:pPr>
            <a:r>
              <a:rPr lang="en-US" sz="1900" dirty="0"/>
              <a:t>RP8-Virtual (Byzantine)</a:t>
            </a:r>
          </a:p>
          <a:p>
            <a:endParaRPr lang="en-US" sz="1400" dirty="0"/>
          </a:p>
        </p:txBody>
      </p:sp>
      <p:pic>
        <p:nvPicPr>
          <p:cNvPr id="10" name="Picture 9">
            <a:extLst>
              <a:ext uri="{FF2B5EF4-FFF2-40B4-BE49-F238E27FC236}">
                <a16:creationId xmlns:a16="http://schemas.microsoft.com/office/drawing/2014/main" id="{2BC5E075-B12C-F8AD-8699-4E33C53A46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52" y="4579621"/>
            <a:ext cx="5937247" cy="1715671"/>
          </a:xfrm>
          <a:prstGeom prst="rect">
            <a:avLst/>
          </a:prstGeom>
        </p:spPr>
      </p:pic>
    </p:spTree>
    <p:extLst>
      <p:ext uri="{BB962C8B-B14F-4D97-AF65-F5344CB8AC3E}">
        <p14:creationId xmlns:p14="http://schemas.microsoft.com/office/powerpoint/2010/main" val="315603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C488F-0E67-6B77-F805-80C48A618172}"/>
              </a:ext>
            </a:extLst>
          </p:cNvPr>
          <p:cNvSpPr>
            <a:spLocks noGrp="1"/>
          </p:cNvSpPr>
          <p:nvPr>
            <p:ph type="title"/>
          </p:nvPr>
        </p:nvSpPr>
        <p:spPr>
          <a:xfrm>
            <a:off x="838200" y="234463"/>
            <a:ext cx="10515600" cy="906584"/>
          </a:xfrm>
        </p:spPr>
        <p:txBody>
          <a:bodyPr>
            <a:normAutofit/>
          </a:bodyPr>
          <a:lstStyle/>
          <a:p>
            <a:r>
              <a:rPr lang="en-US" sz="3600" b="1" dirty="0"/>
              <a:t>Attack-4: Byzantine Behavior &amp; Consensus Outcome</a:t>
            </a:r>
          </a:p>
        </p:txBody>
      </p:sp>
      <p:sp>
        <p:nvSpPr>
          <p:cNvPr id="3" name="Content Placeholder 2">
            <a:extLst>
              <a:ext uri="{FF2B5EF4-FFF2-40B4-BE49-F238E27FC236}">
                <a16:creationId xmlns:a16="http://schemas.microsoft.com/office/drawing/2014/main" id="{5B017E62-5995-2109-59D7-736A39298245}"/>
              </a:ext>
            </a:extLst>
          </p:cNvPr>
          <p:cNvSpPr>
            <a:spLocks noGrp="1"/>
          </p:cNvSpPr>
          <p:nvPr>
            <p:ph sz="half" idx="1"/>
          </p:nvPr>
        </p:nvSpPr>
        <p:spPr>
          <a:xfrm>
            <a:off x="242277" y="1141048"/>
            <a:ext cx="5777523" cy="5650522"/>
          </a:xfrm>
        </p:spPr>
        <p:txBody>
          <a:bodyPr>
            <a:normAutofit fontScale="92500" lnSpcReduction="10000"/>
          </a:bodyPr>
          <a:lstStyle/>
          <a:p>
            <a:pPr>
              <a:buNone/>
            </a:pPr>
            <a:r>
              <a:rPr lang="en-US" sz="1700" b="1" dirty="0"/>
              <a:t>Detector Behavior Observed</a:t>
            </a:r>
          </a:p>
          <a:p>
            <a:pPr>
              <a:buNone/>
            </a:pPr>
            <a:r>
              <a:rPr lang="en-US" sz="1600" b="1" dirty="0"/>
              <a:t>Honest Detectors (RP6, RP8)</a:t>
            </a:r>
          </a:p>
          <a:p>
            <a:pPr>
              <a:buFont typeface="Arial" panose="020B0604020202020204" pitchFamily="34" charset="0"/>
              <a:buChar char="•"/>
            </a:pPr>
            <a:r>
              <a:rPr lang="en-US" sz="1600" dirty="0"/>
              <a:t>Correctly classified the activity as:</a:t>
            </a:r>
          </a:p>
          <a:p>
            <a:pPr marL="742950" lvl="1" indent="-285750">
              <a:buFont typeface="Arial" panose="020B0604020202020204" pitchFamily="34" charset="0"/>
              <a:buChar char="•"/>
            </a:pPr>
            <a:r>
              <a:rPr lang="en-US" sz="1600" b="1" dirty="0"/>
              <a:t>SSH Brute Force</a:t>
            </a:r>
            <a:endParaRPr lang="en-US" sz="1600" dirty="0"/>
          </a:p>
          <a:p>
            <a:pPr marL="742950" lvl="1" indent="-285750">
              <a:buFont typeface="Arial" panose="020B0604020202020204" pitchFamily="34" charset="0"/>
              <a:buChar char="•"/>
            </a:pPr>
            <a:r>
              <a:rPr lang="en-US" sz="1600" b="1" dirty="0"/>
              <a:t>Multiple Connection Attempts</a:t>
            </a:r>
            <a:endParaRPr lang="en-US" sz="1600" dirty="0"/>
          </a:p>
          <a:p>
            <a:pPr>
              <a:buFont typeface="Arial" panose="020B0604020202020204" pitchFamily="34" charset="0"/>
              <a:buChar char="•"/>
            </a:pPr>
            <a:r>
              <a:rPr lang="en-US" sz="1600" dirty="0"/>
              <a:t>Behavior characteristics:</a:t>
            </a:r>
          </a:p>
          <a:p>
            <a:pPr marL="742950" lvl="1" indent="-285750">
              <a:buFont typeface="Arial" panose="020B0604020202020204" pitchFamily="34" charset="0"/>
              <a:buChar char="•"/>
            </a:pPr>
            <a:r>
              <a:rPr lang="en-US" sz="1600" dirty="0"/>
              <a:t>Deterministic</a:t>
            </a:r>
          </a:p>
          <a:p>
            <a:pPr marL="742950" lvl="1" indent="-285750">
              <a:buFont typeface="Arial" panose="020B0604020202020204" pitchFamily="34" charset="0"/>
              <a:buChar char="•"/>
            </a:pPr>
            <a:r>
              <a:rPr lang="en-US" sz="1600" dirty="0"/>
              <a:t>Consistent across alerts</a:t>
            </a:r>
          </a:p>
          <a:p>
            <a:pPr marL="742950" lvl="1" indent="-285750">
              <a:buFont typeface="Arial" panose="020B0604020202020204" pitchFamily="34" charset="0"/>
              <a:buChar char="•"/>
            </a:pPr>
            <a:r>
              <a:rPr lang="en-US" sz="1600" dirty="0"/>
              <a:t>Aligned with ground truth</a:t>
            </a:r>
          </a:p>
          <a:p>
            <a:pPr>
              <a:buFont typeface="Arial" panose="020B0604020202020204" pitchFamily="34" charset="0"/>
              <a:buChar char="•"/>
            </a:pPr>
            <a:r>
              <a:rPr lang="en-US" sz="1600" dirty="0"/>
              <a:t>Sent matching votes to the coordinator</a:t>
            </a:r>
          </a:p>
          <a:p>
            <a:pPr>
              <a:buNone/>
            </a:pPr>
            <a:r>
              <a:rPr lang="en-US" sz="1600" b="1" dirty="0"/>
              <a:t>Byzantine Detector (RP8-Virtual)</a:t>
            </a:r>
          </a:p>
          <a:p>
            <a:pPr>
              <a:buFont typeface="Arial" panose="020B0604020202020204" pitchFamily="34" charset="0"/>
              <a:buChar char="•"/>
            </a:pPr>
            <a:r>
              <a:rPr lang="en-US" sz="1600" dirty="0"/>
              <a:t>Intentionally misclassified authentication attacks</a:t>
            </a:r>
          </a:p>
          <a:p>
            <a:pPr>
              <a:buFont typeface="Arial" panose="020B0604020202020204" pitchFamily="34" charset="0"/>
              <a:buChar char="•"/>
            </a:pPr>
            <a:r>
              <a:rPr lang="en-US" sz="1600" dirty="0"/>
              <a:t>Examples of false reports:</a:t>
            </a:r>
          </a:p>
          <a:p>
            <a:pPr marL="742950" lvl="1" indent="-285750">
              <a:buFont typeface="Arial" panose="020B0604020202020204" pitchFamily="34" charset="0"/>
              <a:buChar char="•"/>
            </a:pPr>
            <a:r>
              <a:rPr lang="en-US" sz="1600" dirty="0"/>
              <a:t>Reported </a:t>
            </a:r>
            <a:r>
              <a:rPr lang="en-US" sz="1600" b="1" dirty="0"/>
              <a:t>Port Scan</a:t>
            </a:r>
            <a:endParaRPr lang="en-US" sz="1600" dirty="0"/>
          </a:p>
          <a:p>
            <a:pPr marL="742950" lvl="1" indent="-285750">
              <a:buFont typeface="Arial" panose="020B0604020202020204" pitchFamily="34" charset="0"/>
              <a:buChar char="•"/>
            </a:pPr>
            <a:r>
              <a:rPr lang="en-US" sz="1600" dirty="0"/>
              <a:t>Reported unrelated attack types</a:t>
            </a:r>
          </a:p>
          <a:p>
            <a:pPr>
              <a:buFont typeface="Arial" panose="020B0604020202020204" pitchFamily="34" charset="0"/>
              <a:buChar char="•"/>
            </a:pPr>
            <a:r>
              <a:rPr lang="en-US" sz="1600" dirty="0"/>
              <a:t>Behavior characteristics:</a:t>
            </a:r>
          </a:p>
          <a:p>
            <a:pPr marL="742950" lvl="1" indent="-285750">
              <a:buFont typeface="Arial" panose="020B0604020202020204" pitchFamily="34" charset="0"/>
              <a:buChar char="•"/>
            </a:pPr>
            <a:r>
              <a:rPr lang="en-US" sz="1600" dirty="0"/>
              <a:t>Arbitrary</a:t>
            </a:r>
          </a:p>
          <a:p>
            <a:pPr marL="742950" lvl="1" indent="-285750">
              <a:buFont typeface="Arial" panose="020B0604020202020204" pitchFamily="34" charset="0"/>
              <a:buChar char="•"/>
            </a:pPr>
            <a:r>
              <a:rPr lang="en-US" sz="1600" dirty="0"/>
              <a:t>Inconsistent</a:t>
            </a:r>
          </a:p>
          <a:p>
            <a:pPr marL="742950" lvl="1" indent="-285750">
              <a:buFont typeface="Arial" panose="020B0604020202020204" pitchFamily="34" charset="0"/>
              <a:buChar char="•"/>
            </a:pPr>
            <a:r>
              <a:rPr lang="en-US" sz="1600" dirty="0"/>
              <a:t>Adversarial</a:t>
            </a:r>
          </a:p>
          <a:p>
            <a:pPr>
              <a:buFont typeface="Arial" panose="020B0604020202020204" pitchFamily="34" charset="0"/>
              <a:buChar char="•"/>
            </a:pPr>
            <a:r>
              <a:rPr lang="en-US" sz="1600" dirty="0"/>
              <a:t>Attempted to confuse consensus by changing labels</a:t>
            </a:r>
          </a:p>
          <a:p>
            <a:endParaRPr lang="en-US" dirty="0"/>
          </a:p>
        </p:txBody>
      </p:sp>
      <p:sp>
        <p:nvSpPr>
          <p:cNvPr id="4" name="Content Placeholder 3">
            <a:extLst>
              <a:ext uri="{FF2B5EF4-FFF2-40B4-BE49-F238E27FC236}">
                <a16:creationId xmlns:a16="http://schemas.microsoft.com/office/drawing/2014/main" id="{A0BFCCED-58C0-FC4D-35C0-AA246FF2F226}"/>
              </a:ext>
            </a:extLst>
          </p:cNvPr>
          <p:cNvSpPr>
            <a:spLocks noGrp="1"/>
          </p:cNvSpPr>
          <p:nvPr>
            <p:ph sz="half" idx="2"/>
          </p:nvPr>
        </p:nvSpPr>
        <p:spPr>
          <a:xfrm>
            <a:off x="6172200" y="1141048"/>
            <a:ext cx="5777522" cy="5650522"/>
          </a:xfrm>
        </p:spPr>
        <p:txBody>
          <a:bodyPr>
            <a:normAutofit fontScale="92500" lnSpcReduction="10000"/>
          </a:bodyPr>
          <a:lstStyle/>
          <a:p>
            <a:pPr>
              <a:buNone/>
            </a:pPr>
            <a:r>
              <a:rPr lang="en-US" sz="2200" b="1" dirty="0"/>
              <a:t>Consensus Processing</a:t>
            </a:r>
          </a:p>
          <a:p>
            <a:pPr>
              <a:buFont typeface="Arial" panose="020B0604020202020204" pitchFamily="34" charset="0"/>
              <a:buChar char="•"/>
            </a:pPr>
            <a:r>
              <a:rPr lang="en-US" sz="1900" dirty="0"/>
              <a:t>Coordinator grouped votes by attack type</a:t>
            </a:r>
          </a:p>
          <a:p>
            <a:pPr>
              <a:buFont typeface="Arial" panose="020B0604020202020204" pitchFamily="34" charset="0"/>
              <a:buChar char="•"/>
            </a:pPr>
            <a:r>
              <a:rPr lang="en-US" sz="1900" dirty="0"/>
              <a:t>Majority rule applied:</a:t>
            </a:r>
          </a:p>
          <a:p>
            <a:pPr marL="742950" lvl="1" indent="-285750">
              <a:buFont typeface="Arial" panose="020B0604020202020204" pitchFamily="34" charset="0"/>
              <a:buChar char="•"/>
            </a:pPr>
            <a:r>
              <a:rPr lang="en-US" sz="1900" b="1" dirty="0"/>
              <a:t>2 out of 3 detectors required</a:t>
            </a:r>
            <a:r>
              <a:rPr lang="en-US" sz="1900" dirty="0"/>
              <a:t> (66.7%)</a:t>
            </a:r>
          </a:p>
          <a:p>
            <a:pPr>
              <a:buFont typeface="Arial" panose="020B0604020202020204" pitchFamily="34" charset="0"/>
              <a:buChar char="•"/>
            </a:pPr>
            <a:r>
              <a:rPr lang="en-US" sz="1900" dirty="0"/>
              <a:t>Honest detectors formed the majority</a:t>
            </a:r>
          </a:p>
          <a:p>
            <a:pPr>
              <a:buFont typeface="Arial" panose="020B0604020202020204" pitchFamily="34" charset="0"/>
              <a:buChar char="•"/>
            </a:pPr>
            <a:r>
              <a:rPr lang="en-US" sz="1900" dirty="0"/>
              <a:t>Byzantine vote was treated as minority input</a:t>
            </a:r>
          </a:p>
          <a:p>
            <a:pPr>
              <a:buNone/>
            </a:pPr>
            <a:r>
              <a:rPr lang="en-US" sz="1900" b="1" dirty="0"/>
              <a:t>Final Outcome</a:t>
            </a:r>
          </a:p>
          <a:p>
            <a:pPr>
              <a:buFont typeface="Arial" panose="020B0604020202020204" pitchFamily="34" charset="0"/>
              <a:buChar char="•"/>
            </a:pPr>
            <a:r>
              <a:rPr lang="en-US" sz="1900" dirty="0"/>
              <a:t>✅ Correct attack (</a:t>
            </a:r>
            <a:r>
              <a:rPr lang="en-US" sz="1900" b="1" dirty="0"/>
              <a:t>SSH Brute Force</a:t>
            </a:r>
            <a:r>
              <a:rPr lang="en-US" sz="1900" dirty="0"/>
              <a:t>) accepted</a:t>
            </a:r>
          </a:p>
          <a:p>
            <a:pPr>
              <a:buFont typeface="Arial" panose="020B0604020202020204" pitchFamily="34" charset="0"/>
              <a:buChar char="•"/>
            </a:pPr>
            <a:r>
              <a:rPr lang="en-US" sz="1900" dirty="0"/>
              <a:t>❌ Byzantine vote ignored</a:t>
            </a:r>
          </a:p>
          <a:p>
            <a:pPr>
              <a:buFont typeface="Arial" panose="020B0604020202020204" pitchFamily="34" charset="0"/>
              <a:buChar char="•"/>
            </a:pPr>
            <a:r>
              <a:rPr lang="en-US" sz="1900" dirty="0"/>
              <a:t>✅ Consensus reached successfully</a:t>
            </a:r>
          </a:p>
          <a:p>
            <a:r>
              <a:rPr lang="en-US" sz="1900" b="1" dirty="0"/>
              <a:t>Key Insight from Attack-4</a:t>
            </a:r>
          </a:p>
          <a:p>
            <a:r>
              <a:rPr lang="en-US" sz="1900" dirty="0"/>
              <a:t>Even during authentication abuse — where attacks are subtle and temporal —</a:t>
            </a:r>
            <a:br>
              <a:rPr lang="en-US" sz="1900" dirty="0"/>
            </a:br>
            <a:r>
              <a:rPr lang="en-US" sz="1900" b="1" dirty="0"/>
              <a:t>majority agreement preserved correctness despite deliberate deception</a:t>
            </a:r>
            <a:endParaRPr lang="en-US" sz="1900" dirty="0"/>
          </a:p>
          <a:p>
            <a:r>
              <a:rPr lang="en-US" sz="1900" dirty="0"/>
              <a:t>✔ No single detector controlled the outcome</a:t>
            </a:r>
            <a:br>
              <a:rPr lang="en-US" sz="1900" dirty="0"/>
            </a:br>
            <a:r>
              <a:rPr lang="en-US" sz="1900" dirty="0"/>
              <a:t>✔ Trust was </a:t>
            </a:r>
            <a:r>
              <a:rPr lang="en-US" sz="1900" b="1" dirty="0"/>
              <a:t>verified</a:t>
            </a:r>
            <a:r>
              <a:rPr lang="en-US" sz="1900" dirty="0"/>
              <a:t>, not assumed</a:t>
            </a:r>
            <a:br>
              <a:rPr lang="en-US" sz="1900" dirty="0"/>
            </a:br>
            <a:r>
              <a:rPr lang="en-US" sz="1900" dirty="0"/>
              <a:t>✔ Byzantine behavior did </a:t>
            </a:r>
            <a:r>
              <a:rPr lang="en-US" sz="1900" b="1" dirty="0"/>
              <a:t>not</a:t>
            </a:r>
            <a:r>
              <a:rPr lang="en-US" sz="1900" dirty="0"/>
              <a:t> break detection</a:t>
            </a:r>
          </a:p>
          <a:p>
            <a:pPr>
              <a:buFont typeface="Arial" panose="020B0604020202020204" pitchFamily="34" charset="0"/>
              <a:buChar char="•"/>
            </a:pPr>
            <a:endParaRPr lang="en-US" sz="1100" dirty="0"/>
          </a:p>
          <a:p>
            <a:endParaRPr lang="en-US" sz="1600" dirty="0"/>
          </a:p>
        </p:txBody>
      </p:sp>
    </p:spTree>
    <p:extLst>
      <p:ext uri="{BB962C8B-B14F-4D97-AF65-F5344CB8AC3E}">
        <p14:creationId xmlns:p14="http://schemas.microsoft.com/office/powerpoint/2010/main" val="1540018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7006-5BFB-B530-E34C-E99E4E260063}"/>
              </a:ext>
            </a:extLst>
          </p:cNvPr>
          <p:cNvSpPr>
            <a:spLocks noGrp="1"/>
          </p:cNvSpPr>
          <p:nvPr>
            <p:ph type="title"/>
          </p:nvPr>
        </p:nvSpPr>
        <p:spPr>
          <a:xfrm>
            <a:off x="164123" y="365126"/>
            <a:ext cx="11863754" cy="869706"/>
          </a:xfrm>
        </p:spPr>
        <p:txBody>
          <a:bodyPr>
            <a:normAutofit/>
          </a:bodyPr>
          <a:lstStyle/>
          <a:p>
            <a:r>
              <a:rPr lang="en-US" sz="4000" b="1" dirty="0"/>
              <a:t>    Attack-5: SYN Flood (High-Intensity Stress Test)</a:t>
            </a:r>
          </a:p>
        </p:txBody>
      </p:sp>
      <p:pic>
        <p:nvPicPr>
          <p:cNvPr id="6" name="Content Placeholder 5">
            <a:extLst>
              <a:ext uri="{FF2B5EF4-FFF2-40B4-BE49-F238E27FC236}">
                <a16:creationId xmlns:a16="http://schemas.microsoft.com/office/drawing/2014/main" id="{AC65595A-1171-2F1B-616E-5DE5A4E04FD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4123" y="1234832"/>
            <a:ext cx="5856287" cy="1527371"/>
          </a:xfrm>
        </p:spPr>
      </p:pic>
      <p:sp>
        <p:nvSpPr>
          <p:cNvPr id="16" name="Rectangle 2">
            <a:extLst>
              <a:ext uri="{FF2B5EF4-FFF2-40B4-BE49-F238E27FC236}">
                <a16:creationId xmlns:a16="http://schemas.microsoft.com/office/drawing/2014/main" id="{0B48238F-B062-CA0B-ECC2-F650371F1A0E}"/>
              </a:ext>
            </a:extLst>
          </p:cNvPr>
          <p:cNvSpPr>
            <a:spLocks noGrp="1" noChangeArrowheads="1"/>
          </p:cNvSpPr>
          <p:nvPr>
            <p:ph sz="half" idx="2"/>
          </p:nvPr>
        </p:nvSpPr>
        <p:spPr bwMode="auto">
          <a:xfrm>
            <a:off x="6172200" y="1235075"/>
            <a:ext cx="5181600" cy="494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External attacker launched </a:t>
            </a:r>
            <a:r>
              <a:rPr kumimoji="0" lang="en-US" altLang="en-US" sz="1800" b="1" i="0" u="none" strike="noStrike" cap="none" normalizeH="0" baseline="0" dirty="0">
                <a:ln>
                  <a:noFill/>
                </a:ln>
                <a:solidFill>
                  <a:schemeClr val="tx1"/>
                </a:solidFill>
                <a:effectLst/>
                <a:latin typeface="Arial" panose="020B0604020202020204" pitchFamily="34" charset="0"/>
              </a:rPr>
              <a:t>TCP SYN flood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Target: Raspberry Pi IDS node (SSH port 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Attack goal: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Exhaust server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Overwhelm connection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Detection characteristics: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Extremely high SYN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Incomplete TCP handshakes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Time-correlated packet bursts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EAFEE999-B988-F8E8-6CDD-05B402140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77" y="2855424"/>
            <a:ext cx="5634892" cy="3321539"/>
          </a:xfrm>
          <a:prstGeom prst="rect">
            <a:avLst/>
          </a:prstGeom>
        </p:spPr>
      </p:pic>
    </p:spTree>
    <p:extLst>
      <p:ext uri="{BB962C8B-B14F-4D97-AF65-F5344CB8AC3E}">
        <p14:creationId xmlns:p14="http://schemas.microsoft.com/office/powerpoint/2010/main" val="4258666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0ACD6-F094-AA76-ED68-26E31CD2E92D}"/>
              </a:ext>
            </a:extLst>
          </p:cNvPr>
          <p:cNvSpPr>
            <a:spLocks noGrp="1"/>
          </p:cNvSpPr>
          <p:nvPr>
            <p:ph type="title"/>
          </p:nvPr>
        </p:nvSpPr>
        <p:spPr>
          <a:xfrm>
            <a:off x="838200" y="365126"/>
            <a:ext cx="10515600" cy="713398"/>
          </a:xfrm>
        </p:spPr>
        <p:txBody>
          <a:bodyPr>
            <a:normAutofit/>
          </a:bodyPr>
          <a:lstStyle/>
          <a:p>
            <a:r>
              <a:rPr lang="en-US" sz="3600" dirty="0"/>
              <a:t>Attack-5: Byzantine Behavior &amp; Consensus Outcome</a:t>
            </a:r>
          </a:p>
        </p:txBody>
      </p:sp>
      <p:sp>
        <p:nvSpPr>
          <p:cNvPr id="3" name="Content Placeholder 2">
            <a:extLst>
              <a:ext uri="{FF2B5EF4-FFF2-40B4-BE49-F238E27FC236}">
                <a16:creationId xmlns:a16="http://schemas.microsoft.com/office/drawing/2014/main" id="{C990CE1C-CCF9-7600-306A-0BF947305220}"/>
              </a:ext>
            </a:extLst>
          </p:cNvPr>
          <p:cNvSpPr>
            <a:spLocks noGrp="1"/>
          </p:cNvSpPr>
          <p:nvPr>
            <p:ph sz="half" idx="1"/>
          </p:nvPr>
        </p:nvSpPr>
        <p:spPr>
          <a:xfrm>
            <a:off x="265723" y="1156678"/>
            <a:ext cx="5754077" cy="5627076"/>
          </a:xfrm>
        </p:spPr>
        <p:txBody>
          <a:bodyPr/>
          <a:lstStyle/>
          <a:p>
            <a:pPr>
              <a:buNone/>
            </a:pPr>
            <a:r>
              <a:rPr lang="en-US" b="1" dirty="0"/>
              <a:t>Detector Behavior</a:t>
            </a:r>
            <a:endParaRPr lang="en-US" dirty="0"/>
          </a:p>
          <a:p>
            <a:pPr>
              <a:buFont typeface="Arial" panose="020B0604020202020204" pitchFamily="34" charset="0"/>
              <a:buChar char="•"/>
            </a:pPr>
            <a:r>
              <a:rPr lang="en-US" dirty="0"/>
              <a:t>Honest detectors (rp6, rp8):</a:t>
            </a:r>
          </a:p>
          <a:p>
            <a:pPr marL="742950" lvl="1" indent="-285750">
              <a:buFont typeface="Arial" panose="020B0604020202020204" pitchFamily="34" charset="0"/>
              <a:buChar char="•"/>
            </a:pPr>
            <a:r>
              <a:rPr lang="en-US" sz="2800" dirty="0"/>
              <a:t>Correctly reported </a:t>
            </a:r>
            <a:r>
              <a:rPr lang="en-US" sz="2800" b="1" dirty="0"/>
              <a:t>Possible SYN Flood</a:t>
            </a:r>
            <a:endParaRPr lang="en-US" sz="2800" dirty="0"/>
          </a:p>
          <a:p>
            <a:pPr marL="742950" lvl="1" indent="-285750">
              <a:buFont typeface="Arial" panose="020B0604020202020204" pitchFamily="34" charset="0"/>
              <a:buChar char="•"/>
            </a:pPr>
            <a:r>
              <a:rPr lang="en-US" sz="2800" dirty="0"/>
              <a:t>Consistent across alerts</a:t>
            </a:r>
          </a:p>
          <a:p>
            <a:pPr>
              <a:buFont typeface="Arial" panose="020B0604020202020204" pitchFamily="34" charset="0"/>
              <a:buChar char="•"/>
            </a:pPr>
            <a:r>
              <a:rPr lang="en-US" dirty="0"/>
              <a:t>Byzantine detector (rp8-virtual):</a:t>
            </a:r>
          </a:p>
          <a:p>
            <a:pPr marL="742950" lvl="1" indent="-285750">
              <a:buFont typeface="Arial" panose="020B0604020202020204" pitchFamily="34" charset="0"/>
              <a:buChar char="•"/>
            </a:pPr>
            <a:r>
              <a:rPr lang="en-US" sz="2800" dirty="0"/>
              <a:t>Misclassified alerts</a:t>
            </a:r>
          </a:p>
          <a:p>
            <a:pPr marL="742950" lvl="1" indent="-285750">
              <a:buFont typeface="Arial" panose="020B0604020202020204" pitchFamily="34" charset="0"/>
              <a:buChar char="•"/>
            </a:pPr>
            <a:r>
              <a:rPr lang="en-US" sz="2800" dirty="0"/>
              <a:t>Changed labels (Port Scan / SSH)</a:t>
            </a:r>
          </a:p>
          <a:p>
            <a:pPr marL="742950" lvl="1" indent="-285750">
              <a:buFont typeface="Arial" panose="020B0604020202020204" pitchFamily="34" charset="0"/>
              <a:buChar char="•"/>
            </a:pPr>
            <a:r>
              <a:rPr lang="en-US" sz="2800" dirty="0"/>
              <a:t>Inconsistent voting during flood</a:t>
            </a:r>
          </a:p>
          <a:p>
            <a:endParaRPr lang="en-US" dirty="0"/>
          </a:p>
        </p:txBody>
      </p:sp>
      <p:sp>
        <p:nvSpPr>
          <p:cNvPr id="4" name="Content Placeholder 3">
            <a:extLst>
              <a:ext uri="{FF2B5EF4-FFF2-40B4-BE49-F238E27FC236}">
                <a16:creationId xmlns:a16="http://schemas.microsoft.com/office/drawing/2014/main" id="{2B108EF1-5164-6100-E70D-0663257DE68A}"/>
              </a:ext>
            </a:extLst>
          </p:cNvPr>
          <p:cNvSpPr>
            <a:spLocks noGrp="1"/>
          </p:cNvSpPr>
          <p:nvPr>
            <p:ph sz="half" idx="2"/>
          </p:nvPr>
        </p:nvSpPr>
        <p:spPr>
          <a:xfrm>
            <a:off x="6172200" y="1156678"/>
            <a:ext cx="5181600" cy="5627076"/>
          </a:xfrm>
        </p:spPr>
        <p:txBody>
          <a:bodyPr>
            <a:normAutofit/>
          </a:bodyPr>
          <a:lstStyle/>
          <a:p>
            <a:pPr>
              <a:buNone/>
            </a:pPr>
            <a:r>
              <a:rPr lang="en-US" sz="2000" b="1" dirty="0"/>
              <a:t>Consensus Processing</a:t>
            </a:r>
            <a:endParaRPr lang="en-US" sz="2000" dirty="0"/>
          </a:p>
          <a:p>
            <a:pPr>
              <a:buFont typeface="Arial" panose="020B0604020202020204" pitchFamily="34" charset="0"/>
              <a:buChar char="•"/>
            </a:pPr>
            <a:r>
              <a:rPr lang="en-US" sz="1800" dirty="0"/>
              <a:t>Coordinator applied </a:t>
            </a:r>
            <a:r>
              <a:rPr lang="en-US" sz="1800" b="1" dirty="0"/>
              <a:t>2/3 majority rule</a:t>
            </a:r>
            <a:endParaRPr lang="en-US" sz="1800" dirty="0"/>
          </a:p>
          <a:p>
            <a:pPr>
              <a:buFont typeface="Arial" panose="020B0604020202020204" pitchFamily="34" charset="0"/>
              <a:buChar char="•"/>
            </a:pPr>
            <a:r>
              <a:rPr lang="en-US" sz="1800" dirty="0"/>
              <a:t>Honest detectors formed majority</a:t>
            </a:r>
          </a:p>
          <a:p>
            <a:pPr>
              <a:buFont typeface="Arial" panose="020B0604020202020204" pitchFamily="34" charset="0"/>
              <a:buChar char="•"/>
            </a:pPr>
            <a:r>
              <a:rPr lang="en-US" sz="1800" dirty="0"/>
              <a:t>Byzantine vote ignored</a:t>
            </a:r>
          </a:p>
          <a:p>
            <a:pPr>
              <a:buNone/>
            </a:pPr>
            <a:r>
              <a:rPr lang="en-US" sz="1800" b="1" dirty="0"/>
              <a:t>Final Outcome (clear checkmarks):</a:t>
            </a:r>
            <a:endParaRPr lang="en-US" sz="1800" dirty="0"/>
          </a:p>
          <a:p>
            <a:pPr>
              <a:buFont typeface="Arial" panose="020B0604020202020204" pitchFamily="34" charset="0"/>
              <a:buChar char="•"/>
            </a:pPr>
            <a:r>
              <a:rPr lang="en-US" sz="1800" dirty="0"/>
              <a:t>✅ SYN Flood correctly detected</a:t>
            </a:r>
          </a:p>
          <a:p>
            <a:pPr>
              <a:buFont typeface="Arial" panose="020B0604020202020204" pitchFamily="34" charset="0"/>
              <a:buChar char="•"/>
            </a:pPr>
            <a:r>
              <a:rPr lang="en-US" sz="1800" dirty="0"/>
              <a:t>❌ Byzantine misinformation rejected</a:t>
            </a:r>
          </a:p>
          <a:p>
            <a:pPr>
              <a:buFont typeface="Arial" panose="020B0604020202020204" pitchFamily="34" charset="0"/>
              <a:buChar char="•"/>
            </a:pPr>
            <a:r>
              <a:rPr lang="en-US" sz="1800" dirty="0"/>
              <a:t>✅ System remained stable under load</a:t>
            </a:r>
          </a:p>
          <a:p>
            <a:pPr>
              <a:buNone/>
            </a:pPr>
            <a:r>
              <a:rPr lang="en-US" sz="1800" b="1" dirty="0"/>
              <a:t>Key Insight:</a:t>
            </a:r>
            <a:endParaRPr lang="en-US" sz="1800" dirty="0"/>
          </a:p>
          <a:p>
            <a:pPr>
              <a:buNone/>
            </a:pPr>
            <a:r>
              <a:rPr lang="en-US" sz="1800" dirty="0"/>
              <a:t>Even under extreme traffic pressure, majority consensus preserved correctness.</a:t>
            </a:r>
          </a:p>
          <a:p>
            <a:endParaRPr lang="en-US" sz="1600" dirty="0"/>
          </a:p>
        </p:txBody>
      </p:sp>
    </p:spTree>
    <p:extLst>
      <p:ext uri="{BB962C8B-B14F-4D97-AF65-F5344CB8AC3E}">
        <p14:creationId xmlns:p14="http://schemas.microsoft.com/office/powerpoint/2010/main" val="1804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B05AF-CECB-D0CC-5834-5846E066D494}"/>
              </a:ext>
            </a:extLst>
          </p:cNvPr>
          <p:cNvSpPr>
            <a:spLocks noGrp="1"/>
          </p:cNvSpPr>
          <p:nvPr>
            <p:ph type="title"/>
          </p:nvPr>
        </p:nvSpPr>
        <p:spPr>
          <a:xfrm>
            <a:off x="140677" y="365125"/>
            <a:ext cx="11941908" cy="807183"/>
          </a:xfrm>
        </p:spPr>
        <p:txBody>
          <a:bodyPr/>
          <a:lstStyle/>
          <a:p>
            <a:r>
              <a:rPr lang="en-US" b="1" dirty="0"/>
              <a:t>Attack-6: Multi-Vector Attack &amp; Detection Evidence</a:t>
            </a:r>
          </a:p>
        </p:txBody>
      </p:sp>
      <p:pic>
        <p:nvPicPr>
          <p:cNvPr id="6" name="Content Placeholder 5">
            <a:extLst>
              <a:ext uri="{FF2B5EF4-FFF2-40B4-BE49-F238E27FC236}">
                <a16:creationId xmlns:a16="http://schemas.microsoft.com/office/drawing/2014/main" id="{F65E867E-BB44-1061-D95C-5F00EDCDFDF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1289" y="1067108"/>
            <a:ext cx="5878512" cy="1421786"/>
          </a:xfrm>
        </p:spPr>
      </p:pic>
      <p:sp>
        <p:nvSpPr>
          <p:cNvPr id="4" name="Content Placeholder 3">
            <a:extLst>
              <a:ext uri="{FF2B5EF4-FFF2-40B4-BE49-F238E27FC236}">
                <a16:creationId xmlns:a16="http://schemas.microsoft.com/office/drawing/2014/main" id="{88B8752B-7E0E-1360-C29B-BF65C3D26AD7}"/>
              </a:ext>
            </a:extLst>
          </p:cNvPr>
          <p:cNvSpPr>
            <a:spLocks noGrp="1"/>
          </p:cNvSpPr>
          <p:nvPr>
            <p:ph sz="half" idx="2"/>
          </p:nvPr>
        </p:nvSpPr>
        <p:spPr>
          <a:xfrm>
            <a:off x="6172200" y="1266092"/>
            <a:ext cx="5181600" cy="5494215"/>
          </a:xfrm>
        </p:spPr>
        <p:txBody>
          <a:bodyPr>
            <a:normAutofit lnSpcReduction="10000"/>
          </a:bodyPr>
          <a:lstStyle/>
          <a:p>
            <a:pPr>
              <a:buNone/>
            </a:pPr>
            <a:r>
              <a:rPr lang="en-US" sz="1800" b="1" dirty="0"/>
              <a:t>Attack Description</a:t>
            </a:r>
          </a:p>
          <a:p>
            <a:pPr>
              <a:buFont typeface="Arial" panose="020B0604020202020204" pitchFamily="34" charset="0"/>
              <a:buChar char="•"/>
            </a:pPr>
            <a:r>
              <a:rPr lang="en-US" sz="1600" dirty="0"/>
              <a:t>External attacker launched </a:t>
            </a:r>
            <a:r>
              <a:rPr lang="en-US" sz="1600" b="1" dirty="0"/>
              <a:t>overlapping attack behaviors</a:t>
            </a:r>
            <a:r>
              <a:rPr lang="en-US" sz="1600" dirty="0"/>
              <a:t>:</a:t>
            </a:r>
          </a:p>
          <a:p>
            <a:pPr marL="742950" lvl="1" indent="-285750">
              <a:buFont typeface="Arial" panose="020B0604020202020204" pitchFamily="34" charset="0"/>
              <a:buChar char="•"/>
            </a:pPr>
            <a:r>
              <a:rPr lang="en-US" sz="1600" dirty="0"/>
              <a:t>Port Scanning</a:t>
            </a:r>
          </a:p>
          <a:p>
            <a:pPr marL="742950" lvl="1" indent="-285750">
              <a:buFont typeface="Arial" panose="020B0604020202020204" pitchFamily="34" charset="0"/>
              <a:buChar char="•"/>
            </a:pPr>
            <a:r>
              <a:rPr lang="en-US" sz="1600" dirty="0"/>
              <a:t>SSH Authentication Abuse</a:t>
            </a:r>
          </a:p>
          <a:p>
            <a:pPr marL="742950" lvl="1" indent="-285750">
              <a:buFont typeface="Arial" panose="020B0604020202020204" pitchFamily="34" charset="0"/>
              <a:buChar char="•"/>
            </a:pPr>
            <a:r>
              <a:rPr lang="en-US" sz="1600" dirty="0"/>
              <a:t>SYN Flood–like traffic bursts</a:t>
            </a:r>
          </a:p>
          <a:p>
            <a:pPr>
              <a:buFont typeface="Arial" panose="020B0604020202020204" pitchFamily="34" charset="0"/>
              <a:buChar char="•"/>
            </a:pPr>
            <a:r>
              <a:rPr lang="en-US" sz="1600" dirty="0"/>
              <a:t>Attacks occurred </a:t>
            </a:r>
            <a:r>
              <a:rPr lang="en-US" sz="1600" b="1" dirty="0"/>
              <a:t>within the same time window</a:t>
            </a:r>
            <a:endParaRPr lang="en-US" sz="1600" dirty="0"/>
          </a:p>
          <a:p>
            <a:pPr>
              <a:buFont typeface="Arial" panose="020B0604020202020204" pitchFamily="34" charset="0"/>
              <a:buChar char="•"/>
            </a:pPr>
            <a:r>
              <a:rPr lang="en-US" sz="1600" dirty="0"/>
              <a:t>Designed to confuse </a:t>
            </a:r>
            <a:r>
              <a:rPr lang="en-US" sz="1600" b="1" dirty="0"/>
              <a:t>rule-based IDS decisions</a:t>
            </a:r>
            <a:endParaRPr lang="en-US" sz="1600" dirty="0"/>
          </a:p>
          <a:p>
            <a:pPr>
              <a:buNone/>
            </a:pPr>
            <a:r>
              <a:rPr lang="en-US" sz="1800" b="1" dirty="0"/>
              <a:t>Why This Attack Is Critical</a:t>
            </a:r>
          </a:p>
          <a:p>
            <a:pPr>
              <a:buFont typeface="Arial" panose="020B0604020202020204" pitchFamily="34" charset="0"/>
              <a:buChar char="•"/>
            </a:pPr>
            <a:r>
              <a:rPr lang="en-US" sz="1600" dirty="0"/>
              <a:t>Real attackers rarely use a single technique</a:t>
            </a:r>
          </a:p>
          <a:p>
            <a:pPr>
              <a:buFont typeface="Arial" panose="020B0604020202020204" pitchFamily="34" charset="0"/>
              <a:buChar char="•"/>
            </a:pPr>
            <a:r>
              <a:rPr lang="en-US" sz="1600" dirty="0"/>
              <a:t>IDS alerts often overlap and compete</a:t>
            </a:r>
          </a:p>
          <a:p>
            <a:pPr>
              <a:buFont typeface="Arial" panose="020B0604020202020204" pitchFamily="34" charset="0"/>
              <a:buChar char="•"/>
            </a:pPr>
            <a:r>
              <a:rPr lang="en-US" sz="1600" dirty="0"/>
              <a:t>A single detector can:</a:t>
            </a:r>
          </a:p>
          <a:p>
            <a:pPr marL="742950" lvl="1" indent="-285750">
              <a:buFont typeface="Arial" panose="020B0604020202020204" pitchFamily="34" charset="0"/>
              <a:buChar char="•"/>
            </a:pPr>
            <a:r>
              <a:rPr lang="en-US" sz="1600" dirty="0"/>
              <a:t>Focus on the </a:t>
            </a:r>
            <a:r>
              <a:rPr lang="en-US" sz="1600" i="1" dirty="0"/>
              <a:t>wrong dominant signal</a:t>
            </a:r>
            <a:endParaRPr lang="en-US" sz="1600" dirty="0"/>
          </a:p>
          <a:p>
            <a:pPr marL="742950" lvl="1" indent="-285750">
              <a:buFont typeface="Arial" panose="020B0604020202020204" pitchFamily="34" charset="0"/>
              <a:buChar char="•"/>
            </a:pPr>
            <a:r>
              <a:rPr lang="en-US" sz="1600" dirty="0"/>
              <a:t>Misclassify the primary attack</a:t>
            </a:r>
          </a:p>
          <a:p>
            <a:pPr>
              <a:buNone/>
            </a:pPr>
            <a:r>
              <a:rPr lang="en-US" sz="1600" dirty="0"/>
              <a:t>➡️ </a:t>
            </a:r>
            <a:r>
              <a:rPr lang="en-US" sz="1600" b="1" dirty="0"/>
              <a:t>This is where Byzantine behavior becomes dangerous</a:t>
            </a:r>
            <a:endParaRPr lang="en-US" sz="1600" dirty="0"/>
          </a:p>
          <a:p>
            <a:r>
              <a:rPr lang="en-US" sz="1600" b="1" dirty="0"/>
              <a:t>Purpose of This Attack (One-liner)</a:t>
            </a:r>
          </a:p>
          <a:p>
            <a:r>
              <a:rPr lang="en-US" sz="1600" b="1" u="sng" dirty="0"/>
              <a:t>Simulate a realistic scenario where multiple attack patterns overlap, stressing IDS classification and trust assumptions.</a:t>
            </a:r>
          </a:p>
        </p:txBody>
      </p:sp>
      <p:pic>
        <p:nvPicPr>
          <p:cNvPr id="8" name="Picture 7">
            <a:extLst>
              <a:ext uri="{FF2B5EF4-FFF2-40B4-BE49-F238E27FC236}">
                <a16:creationId xmlns:a16="http://schemas.microsoft.com/office/drawing/2014/main" id="{CF58C012-94DC-BBEE-6E2B-9A82B85B04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77" y="2879662"/>
            <a:ext cx="6031523" cy="3489877"/>
          </a:xfrm>
          <a:prstGeom prst="rect">
            <a:avLst/>
          </a:prstGeom>
        </p:spPr>
      </p:pic>
    </p:spTree>
    <p:extLst>
      <p:ext uri="{BB962C8B-B14F-4D97-AF65-F5344CB8AC3E}">
        <p14:creationId xmlns:p14="http://schemas.microsoft.com/office/powerpoint/2010/main" val="1769518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1ACD-9AE3-A725-0E23-5D80952ABD41}"/>
              </a:ext>
            </a:extLst>
          </p:cNvPr>
          <p:cNvSpPr>
            <a:spLocks noGrp="1"/>
          </p:cNvSpPr>
          <p:nvPr>
            <p:ph type="title"/>
          </p:nvPr>
        </p:nvSpPr>
        <p:spPr>
          <a:xfrm>
            <a:off x="93785" y="211015"/>
            <a:ext cx="11957538" cy="773723"/>
          </a:xfrm>
        </p:spPr>
        <p:txBody>
          <a:bodyPr/>
          <a:lstStyle/>
          <a:p>
            <a:r>
              <a:rPr lang="en-US" b="1" dirty="0"/>
              <a:t>Attack-6: Byzantine Behavior &amp; Consensus Outcome</a:t>
            </a:r>
          </a:p>
        </p:txBody>
      </p:sp>
      <p:sp>
        <p:nvSpPr>
          <p:cNvPr id="3" name="Content Placeholder 2">
            <a:extLst>
              <a:ext uri="{FF2B5EF4-FFF2-40B4-BE49-F238E27FC236}">
                <a16:creationId xmlns:a16="http://schemas.microsoft.com/office/drawing/2014/main" id="{7BF1DABF-E6A6-7700-5C2B-02E9BE07221D}"/>
              </a:ext>
            </a:extLst>
          </p:cNvPr>
          <p:cNvSpPr>
            <a:spLocks noGrp="1"/>
          </p:cNvSpPr>
          <p:nvPr>
            <p:ph sz="half" idx="1"/>
          </p:nvPr>
        </p:nvSpPr>
        <p:spPr>
          <a:xfrm>
            <a:off x="140677" y="984738"/>
            <a:ext cx="5879123" cy="5662247"/>
          </a:xfrm>
        </p:spPr>
        <p:txBody>
          <a:bodyPr>
            <a:normAutofit lnSpcReduction="10000"/>
          </a:bodyPr>
          <a:lstStyle/>
          <a:p>
            <a:pPr>
              <a:buNone/>
            </a:pPr>
            <a:r>
              <a:rPr lang="en-US" sz="1800" b="1" dirty="0"/>
              <a:t>Detector Behavior Observed</a:t>
            </a:r>
          </a:p>
          <a:p>
            <a:pPr>
              <a:buNone/>
            </a:pPr>
            <a:r>
              <a:rPr lang="en-US" sz="1800" b="1" dirty="0"/>
              <a:t>Honest Detectors (RP6, RP8)</a:t>
            </a:r>
          </a:p>
          <a:p>
            <a:pPr>
              <a:buFont typeface="Arial" panose="020B0604020202020204" pitchFamily="34" charset="0"/>
              <a:buChar char="•"/>
            </a:pPr>
            <a:r>
              <a:rPr lang="en-US" sz="1800" dirty="0"/>
              <a:t>Correctly identified </a:t>
            </a:r>
            <a:r>
              <a:rPr lang="en-US" sz="1800" b="1" dirty="0"/>
              <a:t>dominant attack pattern</a:t>
            </a:r>
            <a:endParaRPr lang="en-US" sz="1800" dirty="0"/>
          </a:p>
          <a:p>
            <a:pPr>
              <a:buFont typeface="Arial" panose="020B0604020202020204" pitchFamily="34" charset="0"/>
              <a:buChar char="•"/>
            </a:pPr>
            <a:r>
              <a:rPr lang="en-US" sz="1800" dirty="0"/>
              <a:t>Reported:</a:t>
            </a:r>
          </a:p>
          <a:p>
            <a:pPr marL="742950" lvl="1" indent="-285750">
              <a:buFont typeface="Arial" panose="020B0604020202020204" pitchFamily="34" charset="0"/>
              <a:buChar char="•"/>
            </a:pPr>
            <a:r>
              <a:rPr lang="en-US" sz="1800" dirty="0"/>
              <a:t>High-frequency SSH attempts</a:t>
            </a:r>
          </a:p>
          <a:p>
            <a:pPr marL="742950" lvl="1" indent="-285750">
              <a:buFont typeface="Arial" panose="020B0604020202020204" pitchFamily="34" charset="0"/>
              <a:buChar char="•"/>
            </a:pPr>
            <a:r>
              <a:rPr lang="en-US" sz="1800" dirty="0"/>
              <a:t>SYN anomalies</a:t>
            </a:r>
          </a:p>
          <a:p>
            <a:pPr>
              <a:buFont typeface="Arial" panose="020B0604020202020204" pitchFamily="34" charset="0"/>
              <a:buChar char="•"/>
            </a:pPr>
            <a:r>
              <a:rPr lang="en-US" sz="1800" dirty="0"/>
              <a:t>Maintained </a:t>
            </a:r>
            <a:r>
              <a:rPr lang="en-US" sz="1800" b="1" dirty="0"/>
              <a:t>consistent labeling across alerts</a:t>
            </a:r>
            <a:endParaRPr lang="en-US" sz="1800" dirty="0"/>
          </a:p>
          <a:p>
            <a:pPr>
              <a:buFont typeface="Arial" panose="020B0604020202020204" pitchFamily="34" charset="0"/>
              <a:buChar char="•"/>
            </a:pPr>
            <a:r>
              <a:rPr lang="en-US" sz="1800" dirty="0"/>
              <a:t>Votes aligned over time</a:t>
            </a:r>
          </a:p>
          <a:p>
            <a:pPr>
              <a:buNone/>
            </a:pPr>
            <a:r>
              <a:rPr lang="en-US" sz="1800" b="1" dirty="0"/>
              <a:t>Byzantine Detector (RP8-Virtual)</a:t>
            </a:r>
          </a:p>
          <a:p>
            <a:pPr>
              <a:buFont typeface="Arial" panose="020B0604020202020204" pitchFamily="34" charset="0"/>
              <a:buChar char="•"/>
            </a:pPr>
            <a:r>
              <a:rPr lang="en-US" sz="1800" dirty="0"/>
              <a:t>Intentionally behaved </a:t>
            </a:r>
            <a:r>
              <a:rPr lang="en-US" sz="1800" dirty="0" err="1"/>
              <a:t>adversarially</a:t>
            </a:r>
            <a:r>
              <a:rPr lang="en-US" sz="1800" dirty="0"/>
              <a:t>:</a:t>
            </a:r>
          </a:p>
          <a:p>
            <a:pPr marL="742950" lvl="1" indent="-285750">
              <a:buFont typeface="Arial" panose="020B0604020202020204" pitchFamily="34" charset="0"/>
              <a:buChar char="•"/>
            </a:pPr>
            <a:r>
              <a:rPr lang="en-US" sz="1800" dirty="0"/>
              <a:t>Switched labels across alerts</a:t>
            </a:r>
          </a:p>
          <a:p>
            <a:pPr marL="742950" lvl="1" indent="-285750">
              <a:buFont typeface="Arial" panose="020B0604020202020204" pitchFamily="34" charset="0"/>
              <a:buChar char="•"/>
            </a:pPr>
            <a:r>
              <a:rPr lang="en-US" sz="1800" dirty="0"/>
              <a:t>Reported unrelated attack types</a:t>
            </a:r>
          </a:p>
          <a:p>
            <a:pPr marL="742950" lvl="1" indent="-285750">
              <a:buFont typeface="Arial" panose="020B0604020202020204" pitchFamily="34" charset="0"/>
              <a:buChar char="•"/>
            </a:pPr>
            <a:r>
              <a:rPr lang="en-US" sz="1800" dirty="0"/>
              <a:t>Changed classification mid-stream</a:t>
            </a:r>
          </a:p>
          <a:p>
            <a:pPr>
              <a:buFont typeface="Arial" panose="020B0604020202020204" pitchFamily="34" charset="0"/>
              <a:buChar char="•"/>
            </a:pPr>
            <a:r>
              <a:rPr lang="en-US" sz="1800" dirty="0"/>
              <a:t>Attempted to:</a:t>
            </a:r>
          </a:p>
          <a:p>
            <a:pPr marL="742950" lvl="1" indent="-285750">
              <a:buFont typeface="Arial" panose="020B0604020202020204" pitchFamily="34" charset="0"/>
              <a:buChar char="•"/>
            </a:pPr>
            <a:r>
              <a:rPr lang="en-US" sz="1800" dirty="0"/>
              <a:t>Split honest votes</a:t>
            </a:r>
          </a:p>
          <a:p>
            <a:pPr marL="742950" lvl="1" indent="-285750">
              <a:buFont typeface="Arial" panose="020B0604020202020204" pitchFamily="34" charset="0"/>
              <a:buChar char="•"/>
            </a:pPr>
            <a:r>
              <a:rPr lang="en-US" sz="1800" dirty="0"/>
              <a:t>Create ambiguity in coordinator</a:t>
            </a:r>
          </a:p>
          <a:p>
            <a:endParaRPr lang="en-US" sz="1600" dirty="0"/>
          </a:p>
        </p:txBody>
      </p:sp>
      <p:sp>
        <p:nvSpPr>
          <p:cNvPr id="4" name="Content Placeholder 3">
            <a:extLst>
              <a:ext uri="{FF2B5EF4-FFF2-40B4-BE49-F238E27FC236}">
                <a16:creationId xmlns:a16="http://schemas.microsoft.com/office/drawing/2014/main" id="{D5EA075C-6AB6-765B-86A8-A68EC8DF75F8}"/>
              </a:ext>
            </a:extLst>
          </p:cNvPr>
          <p:cNvSpPr>
            <a:spLocks noGrp="1"/>
          </p:cNvSpPr>
          <p:nvPr>
            <p:ph sz="half" idx="2"/>
          </p:nvPr>
        </p:nvSpPr>
        <p:spPr>
          <a:xfrm>
            <a:off x="6172200" y="984738"/>
            <a:ext cx="5181600" cy="5662247"/>
          </a:xfrm>
        </p:spPr>
        <p:txBody>
          <a:bodyPr>
            <a:normAutofit lnSpcReduction="10000"/>
          </a:bodyPr>
          <a:lstStyle/>
          <a:p>
            <a:pPr>
              <a:buNone/>
            </a:pPr>
            <a:r>
              <a:rPr lang="en-US" sz="1800" b="1" dirty="0"/>
              <a:t>Consensus Processing</a:t>
            </a:r>
          </a:p>
          <a:p>
            <a:pPr>
              <a:buFont typeface="Arial" panose="020B0604020202020204" pitchFamily="34" charset="0"/>
              <a:buChar char="•"/>
            </a:pPr>
            <a:r>
              <a:rPr lang="en-US" sz="1600" dirty="0"/>
              <a:t>Votes grouped by </a:t>
            </a:r>
            <a:r>
              <a:rPr lang="en-US" sz="1600" b="1" dirty="0"/>
              <a:t>attack category</a:t>
            </a:r>
            <a:endParaRPr lang="en-US" sz="1600" dirty="0"/>
          </a:p>
          <a:p>
            <a:pPr>
              <a:buFont typeface="Arial" panose="020B0604020202020204" pitchFamily="34" charset="0"/>
              <a:buChar char="•"/>
            </a:pPr>
            <a:r>
              <a:rPr lang="en-US" sz="1600" dirty="0"/>
              <a:t>Majority threshold applied:</a:t>
            </a:r>
          </a:p>
          <a:p>
            <a:pPr marL="742950" lvl="1" indent="-285750">
              <a:buFont typeface="Arial" panose="020B0604020202020204" pitchFamily="34" charset="0"/>
              <a:buChar char="•"/>
            </a:pPr>
            <a:r>
              <a:rPr lang="en-US" sz="1600" b="1" dirty="0"/>
              <a:t>2 out of 3 (66.7%)</a:t>
            </a:r>
            <a:endParaRPr lang="en-US" sz="1600" dirty="0"/>
          </a:p>
          <a:p>
            <a:pPr>
              <a:buFont typeface="Arial" panose="020B0604020202020204" pitchFamily="34" charset="0"/>
              <a:buChar char="•"/>
            </a:pPr>
            <a:r>
              <a:rPr lang="en-US" sz="1600" dirty="0"/>
              <a:t>Honest detectors formed majority</a:t>
            </a:r>
          </a:p>
          <a:p>
            <a:pPr>
              <a:buFont typeface="Arial" panose="020B0604020202020204" pitchFamily="34" charset="0"/>
              <a:buChar char="•"/>
            </a:pPr>
            <a:r>
              <a:rPr lang="en-US" sz="1600" dirty="0"/>
              <a:t>Byzantine votes treated as </a:t>
            </a:r>
            <a:r>
              <a:rPr lang="en-US" sz="1600" b="1" dirty="0"/>
              <a:t>minority noise</a:t>
            </a:r>
            <a:endParaRPr lang="en-US" sz="1600" dirty="0"/>
          </a:p>
          <a:p>
            <a:pPr>
              <a:buNone/>
            </a:pPr>
            <a:r>
              <a:rPr lang="en-US" sz="1600" b="1" dirty="0"/>
              <a:t>Final Outcome</a:t>
            </a:r>
          </a:p>
          <a:p>
            <a:pPr>
              <a:buNone/>
            </a:pPr>
            <a:r>
              <a:rPr lang="en-US" sz="1600" dirty="0"/>
              <a:t>✅ </a:t>
            </a:r>
            <a:r>
              <a:rPr lang="en-US" sz="1600" b="1" dirty="0"/>
              <a:t>Correct dominant attack identified</a:t>
            </a:r>
            <a:br>
              <a:rPr lang="en-US" sz="1600" dirty="0"/>
            </a:br>
            <a:r>
              <a:rPr lang="en-US" sz="1600" dirty="0"/>
              <a:t>❌ </a:t>
            </a:r>
            <a:r>
              <a:rPr lang="en-US" sz="1600" b="1" dirty="0"/>
              <a:t>Byzantine misinformation ignored</a:t>
            </a:r>
            <a:br>
              <a:rPr lang="en-US" sz="1600" dirty="0"/>
            </a:br>
            <a:r>
              <a:rPr lang="en-US" sz="1600" dirty="0"/>
              <a:t>✅ </a:t>
            </a:r>
            <a:r>
              <a:rPr lang="en-US" sz="1600" b="1" dirty="0"/>
              <a:t>Consensus reached despite overlapping signals</a:t>
            </a:r>
            <a:endParaRPr lang="en-US" sz="1600" dirty="0"/>
          </a:p>
          <a:p>
            <a:pPr>
              <a:buNone/>
            </a:pPr>
            <a:r>
              <a:rPr lang="en-US" sz="2100" b="1" dirty="0"/>
              <a:t>Key Insight from Attack-6</a:t>
            </a:r>
          </a:p>
          <a:p>
            <a:pPr>
              <a:buNone/>
            </a:pPr>
            <a:r>
              <a:rPr lang="en-US" sz="2100" dirty="0"/>
              <a:t>Even under </a:t>
            </a:r>
            <a:r>
              <a:rPr lang="en-US" sz="2100" b="1" dirty="0"/>
              <a:t>multi-vector attack pressure</a:t>
            </a:r>
            <a:r>
              <a:rPr lang="en-US" sz="2100" dirty="0"/>
              <a:t>,</a:t>
            </a:r>
            <a:br>
              <a:rPr lang="en-US" sz="2100" dirty="0"/>
            </a:br>
            <a:r>
              <a:rPr lang="en-US" sz="2100" b="1" dirty="0"/>
              <a:t>Byzantine-tolerant consensus preserved correctness</a:t>
            </a:r>
            <a:r>
              <a:rPr lang="en-US" sz="2100" dirty="0"/>
              <a:t>.</a:t>
            </a:r>
          </a:p>
          <a:p>
            <a:pPr>
              <a:buNone/>
            </a:pPr>
            <a:r>
              <a:rPr lang="en-US" sz="2100" dirty="0"/>
              <a:t>✔ No single detector controlled the outcome</a:t>
            </a:r>
            <a:br>
              <a:rPr lang="en-US" sz="2100" dirty="0"/>
            </a:br>
            <a:r>
              <a:rPr lang="en-US" sz="2100" dirty="0"/>
              <a:t>✔ Trust was </a:t>
            </a:r>
            <a:r>
              <a:rPr lang="en-US" sz="2100" b="1" dirty="0"/>
              <a:t>earned through agreement</a:t>
            </a:r>
            <a:r>
              <a:rPr lang="en-US" sz="2100" dirty="0"/>
              <a:t>, not assumed</a:t>
            </a:r>
            <a:br>
              <a:rPr lang="en-US" sz="2100" dirty="0"/>
            </a:br>
            <a:r>
              <a:rPr lang="en-US" sz="2100" dirty="0"/>
              <a:t>✔ System scaled from simple to complex attacks</a:t>
            </a:r>
          </a:p>
          <a:p>
            <a:endParaRPr lang="en-US" dirty="0"/>
          </a:p>
        </p:txBody>
      </p:sp>
    </p:spTree>
    <p:extLst>
      <p:ext uri="{BB962C8B-B14F-4D97-AF65-F5344CB8AC3E}">
        <p14:creationId xmlns:p14="http://schemas.microsoft.com/office/powerpoint/2010/main" val="754769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ED28-319B-5E80-3C39-6C620D78E375}"/>
              </a:ext>
            </a:extLst>
          </p:cNvPr>
          <p:cNvSpPr>
            <a:spLocks noGrp="1"/>
          </p:cNvSpPr>
          <p:nvPr>
            <p:ph type="title"/>
          </p:nvPr>
        </p:nvSpPr>
        <p:spPr>
          <a:xfrm>
            <a:off x="265723" y="93786"/>
            <a:ext cx="11676185" cy="804984"/>
          </a:xfrm>
        </p:spPr>
        <p:txBody>
          <a:bodyPr/>
          <a:lstStyle/>
          <a:p>
            <a:r>
              <a:rPr lang="en-US" dirty="0"/>
              <a:t>Cross-Attack Observations &amp; System Behavior</a:t>
            </a:r>
          </a:p>
        </p:txBody>
      </p:sp>
      <p:sp>
        <p:nvSpPr>
          <p:cNvPr id="3" name="Content Placeholder 2">
            <a:extLst>
              <a:ext uri="{FF2B5EF4-FFF2-40B4-BE49-F238E27FC236}">
                <a16:creationId xmlns:a16="http://schemas.microsoft.com/office/drawing/2014/main" id="{51C4A029-40F4-5541-96BC-378799AC70A6}"/>
              </a:ext>
            </a:extLst>
          </p:cNvPr>
          <p:cNvSpPr>
            <a:spLocks noGrp="1"/>
          </p:cNvSpPr>
          <p:nvPr>
            <p:ph sz="half" idx="1"/>
          </p:nvPr>
        </p:nvSpPr>
        <p:spPr>
          <a:xfrm>
            <a:off x="171938" y="898770"/>
            <a:ext cx="5847862" cy="5603630"/>
          </a:xfrm>
        </p:spPr>
        <p:txBody>
          <a:bodyPr>
            <a:normAutofit fontScale="92500" lnSpcReduction="20000"/>
          </a:bodyPr>
          <a:lstStyle/>
          <a:p>
            <a:pPr>
              <a:buNone/>
            </a:pPr>
            <a:r>
              <a:rPr lang="en-US" sz="1900" b="1" dirty="0"/>
              <a:t>Patterns Observed Across All Attacks</a:t>
            </a:r>
          </a:p>
          <a:p>
            <a:pPr>
              <a:buNone/>
            </a:pPr>
            <a:r>
              <a:rPr lang="en-US" sz="1700" b="1" dirty="0"/>
              <a:t>Observed Across All 6 Attacks</a:t>
            </a:r>
          </a:p>
          <a:p>
            <a:pPr>
              <a:buFont typeface="Arial" panose="020B0604020202020204" pitchFamily="34" charset="0"/>
              <a:buChar char="•"/>
            </a:pPr>
            <a:r>
              <a:rPr lang="en-US" b="1" dirty="0"/>
              <a:t>Same evidence, different interpretations</a:t>
            </a:r>
            <a:endParaRPr lang="en-US" dirty="0"/>
          </a:p>
          <a:p>
            <a:pPr marL="742950" lvl="1" indent="-285750">
              <a:buFont typeface="Arial" panose="020B0604020202020204" pitchFamily="34" charset="0"/>
              <a:buChar char="•"/>
            </a:pPr>
            <a:r>
              <a:rPr lang="en-US" dirty="0"/>
              <a:t>All detectors received the </a:t>
            </a:r>
            <a:r>
              <a:rPr lang="en-US" i="1" dirty="0"/>
              <a:t>same Suricata alerts</a:t>
            </a:r>
            <a:endParaRPr lang="en-US" dirty="0"/>
          </a:p>
          <a:p>
            <a:pPr marL="742950" lvl="1" indent="-285750">
              <a:buFont typeface="Arial" panose="020B0604020202020204" pitchFamily="34" charset="0"/>
              <a:buChar char="•"/>
            </a:pPr>
            <a:r>
              <a:rPr lang="en-US" dirty="0"/>
              <a:t>No detector had privileged or extra information</a:t>
            </a:r>
          </a:p>
          <a:p>
            <a:pPr>
              <a:buFont typeface="Arial" panose="020B0604020202020204" pitchFamily="34" charset="0"/>
              <a:buChar char="•"/>
            </a:pPr>
            <a:r>
              <a:rPr lang="en-US" b="1" dirty="0"/>
              <a:t>Byzantine behavior followed patterns</a:t>
            </a:r>
            <a:endParaRPr lang="en-US" dirty="0"/>
          </a:p>
          <a:p>
            <a:pPr marL="742950" lvl="1" indent="-285750">
              <a:buFont typeface="Arial" panose="020B0604020202020204" pitchFamily="34" charset="0"/>
              <a:buChar char="•"/>
            </a:pPr>
            <a:r>
              <a:rPr lang="en-US" dirty="0"/>
              <a:t>Changed labels intentionally</a:t>
            </a:r>
          </a:p>
          <a:p>
            <a:pPr marL="742950" lvl="1" indent="-285750">
              <a:buFont typeface="Arial" panose="020B0604020202020204" pitchFamily="34" charset="0"/>
              <a:buChar char="•"/>
            </a:pPr>
            <a:r>
              <a:rPr lang="en-US" dirty="0"/>
              <a:t>Reported unrelated attack types</a:t>
            </a:r>
          </a:p>
          <a:p>
            <a:pPr marL="742950" lvl="1" indent="-285750">
              <a:buFont typeface="Arial" panose="020B0604020202020204" pitchFamily="34" charset="0"/>
              <a:buChar char="•"/>
            </a:pPr>
            <a:r>
              <a:rPr lang="en-US" dirty="0"/>
              <a:t>Switched classifications mid-stream</a:t>
            </a:r>
          </a:p>
          <a:p>
            <a:pPr marL="742950" lvl="1" indent="-285750">
              <a:buFont typeface="Arial" panose="020B0604020202020204" pitchFamily="34" charset="0"/>
              <a:buChar char="•"/>
            </a:pPr>
            <a:r>
              <a:rPr lang="en-US" dirty="0"/>
              <a:t>Attempted to split honest votes</a:t>
            </a:r>
          </a:p>
          <a:p>
            <a:pPr>
              <a:buFont typeface="Arial" panose="020B0604020202020204" pitchFamily="34" charset="0"/>
              <a:buChar char="•"/>
            </a:pPr>
            <a:r>
              <a:rPr lang="en-US" b="1" dirty="0"/>
              <a:t>Attack complexity increased gradually</a:t>
            </a:r>
            <a:endParaRPr lang="en-US" dirty="0"/>
          </a:p>
          <a:p>
            <a:pPr marL="742950" lvl="1" indent="-285750">
              <a:buFont typeface="Arial" panose="020B0604020202020204" pitchFamily="34" charset="0"/>
              <a:buChar char="•"/>
            </a:pPr>
            <a:r>
              <a:rPr lang="en-US" dirty="0"/>
              <a:t>Attack-1 → Single vector</a:t>
            </a:r>
          </a:p>
          <a:p>
            <a:pPr marL="742950" lvl="1" indent="-285750">
              <a:buFont typeface="Arial" panose="020B0604020202020204" pitchFamily="34" charset="0"/>
              <a:buChar char="•"/>
            </a:pPr>
            <a:r>
              <a:rPr lang="en-US" dirty="0"/>
              <a:t>Attack-5 → High-intensity stress</a:t>
            </a:r>
          </a:p>
          <a:p>
            <a:pPr marL="742950" lvl="1" indent="-285750">
              <a:buFont typeface="Arial" panose="020B0604020202020204" pitchFamily="34" charset="0"/>
              <a:buChar char="•"/>
            </a:pPr>
            <a:r>
              <a:rPr lang="en-US" dirty="0"/>
              <a:t>Attack-6 → Multi-vector overlap</a:t>
            </a:r>
          </a:p>
          <a:p>
            <a:endParaRPr lang="en-US" sz="1400" dirty="0"/>
          </a:p>
        </p:txBody>
      </p:sp>
      <p:sp>
        <p:nvSpPr>
          <p:cNvPr id="4" name="Content Placeholder 3">
            <a:extLst>
              <a:ext uri="{FF2B5EF4-FFF2-40B4-BE49-F238E27FC236}">
                <a16:creationId xmlns:a16="http://schemas.microsoft.com/office/drawing/2014/main" id="{01EB0912-2458-7E2E-7DD0-F78706F22B19}"/>
              </a:ext>
            </a:extLst>
          </p:cNvPr>
          <p:cNvSpPr>
            <a:spLocks noGrp="1"/>
          </p:cNvSpPr>
          <p:nvPr>
            <p:ph sz="half" idx="2"/>
          </p:nvPr>
        </p:nvSpPr>
        <p:spPr>
          <a:xfrm>
            <a:off x="6172200" y="898770"/>
            <a:ext cx="5181600" cy="5603630"/>
          </a:xfrm>
        </p:spPr>
        <p:txBody>
          <a:bodyPr>
            <a:normAutofit fontScale="92500" lnSpcReduction="20000"/>
          </a:bodyPr>
          <a:lstStyle/>
          <a:p>
            <a:pPr>
              <a:buNone/>
            </a:pPr>
            <a:r>
              <a:rPr lang="en-US" sz="1700" b="1" dirty="0"/>
              <a:t>What the Consensus Layer Did</a:t>
            </a:r>
          </a:p>
          <a:p>
            <a:pPr>
              <a:buNone/>
            </a:pPr>
            <a:r>
              <a:rPr lang="en-US" sz="1600" b="1" dirty="0"/>
              <a:t>Consensus behavior across attacks:</a:t>
            </a:r>
            <a:endParaRPr lang="en-US" sz="1600" dirty="0"/>
          </a:p>
          <a:p>
            <a:r>
              <a:rPr lang="en-US" sz="1800" b="1" dirty="0"/>
              <a:t>Majority rule applied consistently</a:t>
            </a:r>
            <a:endParaRPr lang="en-US" sz="1800" dirty="0"/>
          </a:p>
          <a:p>
            <a:pPr lvl="1"/>
            <a:r>
              <a:rPr lang="en-US" sz="1800" dirty="0"/>
              <a:t>2 out of 3 detectors required</a:t>
            </a:r>
          </a:p>
          <a:p>
            <a:pPr lvl="1"/>
            <a:r>
              <a:rPr lang="en-US" sz="1800" dirty="0"/>
              <a:t>Byzantine votes always remained minority</a:t>
            </a:r>
          </a:p>
          <a:p>
            <a:r>
              <a:rPr lang="en-US" sz="1800" b="1" dirty="0"/>
              <a:t>No false consensus observed</a:t>
            </a:r>
            <a:endParaRPr lang="en-US" sz="1800" dirty="0"/>
          </a:p>
          <a:p>
            <a:pPr lvl="1"/>
            <a:r>
              <a:rPr lang="en-US" sz="1800" dirty="0"/>
              <a:t>Incorrect labels were never finalized</a:t>
            </a:r>
          </a:p>
          <a:p>
            <a:pPr lvl="1"/>
            <a:r>
              <a:rPr lang="en-US" sz="1800" dirty="0"/>
              <a:t>Final decision always matched ground truth</a:t>
            </a:r>
          </a:p>
          <a:p>
            <a:r>
              <a:rPr lang="en-US" sz="1800" b="1" dirty="0"/>
              <a:t>Coordinator remained neutral</a:t>
            </a:r>
            <a:endParaRPr lang="en-US" sz="1800" dirty="0"/>
          </a:p>
          <a:p>
            <a:pPr lvl="1"/>
            <a:r>
              <a:rPr lang="en-US" sz="1800" dirty="0"/>
              <a:t>No trust in individual detectors</a:t>
            </a:r>
          </a:p>
          <a:p>
            <a:pPr lvl="1"/>
            <a:r>
              <a:rPr lang="en-US" sz="1800" dirty="0"/>
              <a:t>Decisions based only on vote counts</a:t>
            </a:r>
          </a:p>
          <a:p>
            <a:pPr>
              <a:buNone/>
            </a:pPr>
            <a:r>
              <a:rPr lang="en-US" sz="1500" b="1" dirty="0"/>
              <a:t>System-Level Guarantees Demonstrated</a:t>
            </a:r>
          </a:p>
          <a:p>
            <a:pPr>
              <a:buFont typeface="Arial" panose="020B0604020202020204" pitchFamily="34" charset="0"/>
              <a:buChar char="•"/>
            </a:pPr>
            <a:r>
              <a:rPr lang="en-US" sz="1500" dirty="0"/>
              <a:t>✅ Fault tolerance with </a:t>
            </a:r>
            <a:r>
              <a:rPr lang="en-US" sz="1500" b="1" dirty="0"/>
              <a:t>1 Byzantine detector</a:t>
            </a:r>
            <a:endParaRPr lang="en-US" sz="1500" dirty="0"/>
          </a:p>
          <a:p>
            <a:pPr>
              <a:buFont typeface="Arial" panose="020B0604020202020204" pitchFamily="34" charset="0"/>
              <a:buChar char="•"/>
            </a:pPr>
            <a:r>
              <a:rPr lang="en-US" sz="1500" dirty="0"/>
              <a:t>✅ Trust established through </a:t>
            </a:r>
            <a:r>
              <a:rPr lang="en-US" sz="1500" b="1" dirty="0"/>
              <a:t>agreement</a:t>
            </a:r>
            <a:endParaRPr lang="en-US" sz="1500" dirty="0"/>
          </a:p>
          <a:p>
            <a:pPr>
              <a:buFont typeface="Arial" panose="020B0604020202020204" pitchFamily="34" charset="0"/>
              <a:buChar char="•"/>
            </a:pPr>
            <a:r>
              <a:rPr lang="en-US" sz="1500" dirty="0"/>
              <a:t>✅ Robustness under increasing attack complexity</a:t>
            </a:r>
          </a:p>
          <a:p>
            <a:pPr>
              <a:buFont typeface="Arial" panose="020B0604020202020204" pitchFamily="34" charset="0"/>
              <a:buChar char="•"/>
            </a:pPr>
            <a:r>
              <a:rPr lang="en-US" sz="1500" dirty="0"/>
              <a:t>✅ Adversarial noise treated as minority input</a:t>
            </a:r>
          </a:p>
          <a:p>
            <a:pPr>
              <a:buNone/>
            </a:pPr>
            <a:endParaRPr lang="en-US" sz="1050" dirty="0"/>
          </a:p>
          <a:p>
            <a:r>
              <a:rPr lang="en-US" sz="1600" b="1" u="sng" dirty="0"/>
              <a:t>Even when detectors lie, consensus preserves truth — as long as honest nodes remain the majority.</a:t>
            </a:r>
          </a:p>
        </p:txBody>
      </p:sp>
    </p:spTree>
    <p:extLst>
      <p:ext uri="{BB962C8B-B14F-4D97-AF65-F5344CB8AC3E}">
        <p14:creationId xmlns:p14="http://schemas.microsoft.com/office/powerpoint/2010/main" val="3118803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3C428-337B-1B55-C1CB-89D6BA2920F5}"/>
              </a:ext>
            </a:extLst>
          </p:cNvPr>
          <p:cNvSpPr>
            <a:spLocks noGrp="1"/>
          </p:cNvSpPr>
          <p:nvPr>
            <p:ph type="title"/>
          </p:nvPr>
        </p:nvSpPr>
        <p:spPr>
          <a:xfrm>
            <a:off x="140677" y="365125"/>
            <a:ext cx="11949723" cy="1325563"/>
          </a:xfrm>
        </p:spPr>
        <p:txBody>
          <a:bodyPr/>
          <a:lstStyle/>
          <a:p>
            <a:r>
              <a:rPr lang="en-US" b="1" dirty="0"/>
              <a:t>          System Limitations &amp; Assumptions</a:t>
            </a:r>
            <a:br>
              <a:rPr lang="en-US" b="1" dirty="0"/>
            </a:br>
            <a:endParaRPr lang="en-US" dirty="0"/>
          </a:p>
        </p:txBody>
      </p:sp>
      <p:sp>
        <p:nvSpPr>
          <p:cNvPr id="3" name="Content Placeholder 2">
            <a:extLst>
              <a:ext uri="{FF2B5EF4-FFF2-40B4-BE49-F238E27FC236}">
                <a16:creationId xmlns:a16="http://schemas.microsoft.com/office/drawing/2014/main" id="{C4A6A000-5414-B2F0-B70A-6C3F496B36C4}"/>
              </a:ext>
            </a:extLst>
          </p:cNvPr>
          <p:cNvSpPr>
            <a:spLocks noGrp="1"/>
          </p:cNvSpPr>
          <p:nvPr>
            <p:ph sz="half" idx="1"/>
          </p:nvPr>
        </p:nvSpPr>
        <p:spPr>
          <a:xfrm>
            <a:off x="195385" y="1125415"/>
            <a:ext cx="5824415" cy="5486400"/>
          </a:xfrm>
        </p:spPr>
        <p:txBody>
          <a:bodyPr>
            <a:normAutofit fontScale="85000" lnSpcReduction="20000"/>
          </a:bodyPr>
          <a:lstStyle/>
          <a:p>
            <a:pPr>
              <a:buNone/>
            </a:pPr>
            <a:r>
              <a:rPr lang="en-US" sz="2600" b="1" dirty="0"/>
              <a:t>Assumptions of the Model</a:t>
            </a:r>
          </a:p>
          <a:p>
            <a:pPr>
              <a:buNone/>
            </a:pPr>
            <a:r>
              <a:rPr lang="en-US" sz="2600" b="1" dirty="0"/>
              <a:t>Assumption 1: Majority of detectors are honest</a:t>
            </a:r>
            <a:endParaRPr lang="en-US" sz="2600" dirty="0"/>
          </a:p>
          <a:p>
            <a:pPr>
              <a:buFont typeface="Arial" panose="020B0604020202020204" pitchFamily="34" charset="0"/>
              <a:buChar char="•"/>
            </a:pPr>
            <a:r>
              <a:rPr lang="en-US" sz="2600" dirty="0"/>
              <a:t>The system assumes </a:t>
            </a:r>
            <a:r>
              <a:rPr lang="en-US" sz="2600" b="1" dirty="0"/>
              <a:t>more than half of detectors behave correctly</a:t>
            </a:r>
            <a:endParaRPr lang="en-US" sz="2600" dirty="0"/>
          </a:p>
          <a:p>
            <a:pPr>
              <a:buFont typeface="Arial" panose="020B0604020202020204" pitchFamily="34" charset="0"/>
              <a:buChar char="•"/>
            </a:pPr>
            <a:r>
              <a:rPr lang="en-US" sz="2600" dirty="0"/>
              <a:t>In this project:</a:t>
            </a:r>
          </a:p>
          <a:p>
            <a:pPr marL="742950" lvl="1" indent="-285750">
              <a:buFont typeface="Arial" panose="020B0604020202020204" pitchFamily="34" charset="0"/>
              <a:buChar char="•"/>
            </a:pPr>
            <a:r>
              <a:rPr lang="en-US" sz="2600" dirty="0"/>
              <a:t>3 detectors total</a:t>
            </a:r>
          </a:p>
          <a:p>
            <a:pPr marL="742950" lvl="1" indent="-285750">
              <a:buFont typeface="Arial" panose="020B0604020202020204" pitchFamily="34" charset="0"/>
              <a:buChar char="•"/>
            </a:pPr>
            <a:r>
              <a:rPr lang="en-US" sz="2600" dirty="0"/>
              <a:t>1 Byzantine detector tolerated</a:t>
            </a:r>
          </a:p>
          <a:p>
            <a:pPr marL="742950" lvl="1" indent="-285750">
              <a:buFont typeface="Arial" panose="020B0604020202020204" pitchFamily="34" charset="0"/>
              <a:buChar char="•"/>
            </a:pPr>
            <a:r>
              <a:rPr lang="en-US" sz="2600" dirty="0"/>
              <a:t>2 honest detectors form the majority</a:t>
            </a:r>
          </a:p>
          <a:p>
            <a:pPr>
              <a:buNone/>
            </a:pPr>
            <a:r>
              <a:rPr lang="en-US" sz="2600" b="1" dirty="0"/>
              <a:t>Assumption 2: Identical evidence distribution</a:t>
            </a:r>
            <a:endParaRPr lang="en-US" sz="2600" dirty="0"/>
          </a:p>
          <a:p>
            <a:pPr>
              <a:buFont typeface="Arial" panose="020B0604020202020204" pitchFamily="34" charset="0"/>
              <a:buChar char="•"/>
            </a:pPr>
            <a:r>
              <a:rPr lang="en-US" sz="2600" dirty="0"/>
              <a:t>All detectors receive the </a:t>
            </a:r>
            <a:r>
              <a:rPr lang="en-US" sz="2600" b="1" dirty="0"/>
              <a:t>same Suricata alerts</a:t>
            </a:r>
            <a:endParaRPr lang="en-US" sz="2600" dirty="0"/>
          </a:p>
          <a:p>
            <a:pPr>
              <a:buFont typeface="Arial" panose="020B0604020202020204" pitchFamily="34" charset="0"/>
              <a:buChar char="•"/>
            </a:pPr>
            <a:r>
              <a:rPr lang="en-US" sz="2600" dirty="0"/>
              <a:t>No detector has privileged access or extra context</a:t>
            </a:r>
          </a:p>
          <a:p>
            <a:pPr>
              <a:buNone/>
            </a:pPr>
            <a:r>
              <a:rPr lang="en-US" sz="2600" b="1" dirty="0"/>
              <a:t>Assumption 3: Byzantine behavior is independent</a:t>
            </a:r>
            <a:endParaRPr lang="en-US" sz="2600" dirty="0"/>
          </a:p>
          <a:p>
            <a:pPr>
              <a:buFont typeface="Arial" panose="020B0604020202020204" pitchFamily="34" charset="0"/>
              <a:buChar char="•"/>
            </a:pPr>
            <a:r>
              <a:rPr lang="en-US" sz="2600" dirty="0"/>
              <a:t>Byzantine detector acts </a:t>
            </a:r>
            <a:r>
              <a:rPr lang="en-US" sz="2600" b="1" dirty="0"/>
              <a:t>independently</a:t>
            </a:r>
            <a:endParaRPr lang="en-US" sz="2600" dirty="0"/>
          </a:p>
          <a:p>
            <a:pPr>
              <a:buFont typeface="Arial" panose="020B0604020202020204" pitchFamily="34" charset="0"/>
              <a:buChar char="•"/>
            </a:pPr>
            <a:r>
              <a:rPr lang="en-US" sz="2600" dirty="0"/>
              <a:t>No collusion between multiple malicious detectors</a:t>
            </a:r>
          </a:p>
          <a:p>
            <a:endParaRPr lang="en-US" dirty="0"/>
          </a:p>
        </p:txBody>
      </p:sp>
      <p:sp>
        <p:nvSpPr>
          <p:cNvPr id="4" name="Content Placeholder 3">
            <a:extLst>
              <a:ext uri="{FF2B5EF4-FFF2-40B4-BE49-F238E27FC236}">
                <a16:creationId xmlns:a16="http://schemas.microsoft.com/office/drawing/2014/main" id="{2AEF2CB0-B2BC-B056-CCB6-2EAAE007F074}"/>
              </a:ext>
            </a:extLst>
          </p:cNvPr>
          <p:cNvSpPr>
            <a:spLocks noGrp="1"/>
          </p:cNvSpPr>
          <p:nvPr>
            <p:ph sz="half" idx="2"/>
          </p:nvPr>
        </p:nvSpPr>
        <p:spPr>
          <a:xfrm>
            <a:off x="6172199" y="1125414"/>
            <a:ext cx="5824415" cy="5486399"/>
          </a:xfrm>
        </p:spPr>
        <p:txBody>
          <a:bodyPr>
            <a:normAutofit fontScale="85000" lnSpcReduction="20000"/>
          </a:bodyPr>
          <a:lstStyle/>
          <a:p>
            <a:pPr>
              <a:buNone/>
            </a:pPr>
            <a:r>
              <a:rPr lang="en-US" sz="2400" b="1" dirty="0"/>
              <a:t>Known Limitations</a:t>
            </a:r>
          </a:p>
          <a:p>
            <a:pPr>
              <a:buNone/>
            </a:pPr>
            <a:r>
              <a:rPr lang="en-US" sz="2400" b="1" dirty="0"/>
              <a:t>Limitation 1: Multiple Byzantine detectors</a:t>
            </a:r>
            <a:endParaRPr lang="en-US" sz="2400" dirty="0"/>
          </a:p>
          <a:p>
            <a:pPr>
              <a:buFont typeface="Arial" panose="020B0604020202020204" pitchFamily="34" charset="0"/>
              <a:buChar char="•"/>
            </a:pPr>
            <a:r>
              <a:rPr lang="en-US" sz="2400" dirty="0"/>
              <a:t>If </a:t>
            </a:r>
            <a:r>
              <a:rPr lang="en-US" sz="2400" b="1" dirty="0"/>
              <a:t>2 out of 3 detectors become Byzantine</a:t>
            </a:r>
            <a:r>
              <a:rPr lang="en-US" sz="2400" dirty="0"/>
              <a:t>:</a:t>
            </a:r>
          </a:p>
          <a:p>
            <a:pPr marL="742950" lvl="1" indent="-285750">
              <a:buFont typeface="Arial" panose="020B0604020202020204" pitchFamily="34" charset="0"/>
              <a:buChar char="•"/>
            </a:pPr>
            <a:r>
              <a:rPr lang="en-US" dirty="0"/>
              <a:t>Majority rule breaks</a:t>
            </a:r>
          </a:p>
          <a:p>
            <a:pPr marL="742950" lvl="1" indent="-285750">
              <a:buFont typeface="Arial" panose="020B0604020202020204" pitchFamily="34" charset="0"/>
              <a:buChar char="•"/>
            </a:pPr>
            <a:r>
              <a:rPr lang="en-US" dirty="0"/>
              <a:t>Incorrect consensus may be reached</a:t>
            </a:r>
          </a:p>
          <a:p>
            <a:pPr>
              <a:buNone/>
            </a:pPr>
            <a:r>
              <a:rPr lang="en-US" sz="2400" b="1" dirty="0"/>
              <a:t>Limitation 2: Rule-based IDS dependency</a:t>
            </a:r>
            <a:endParaRPr lang="en-US" sz="2400" dirty="0"/>
          </a:p>
          <a:p>
            <a:pPr>
              <a:buFont typeface="Arial" panose="020B0604020202020204" pitchFamily="34" charset="0"/>
              <a:buChar char="•"/>
            </a:pPr>
            <a:r>
              <a:rPr lang="en-US" sz="2400" dirty="0"/>
              <a:t>Detection quality depends on:</a:t>
            </a:r>
          </a:p>
          <a:p>
            <a:pPr marL="742950" lvl="1" indent="-285750">
              <a:buFont typeface="Arial" panose="020B0604020202020204" pitchFamily="34" charset="0"/>
              <a:buChar char="•"/>
            </a:pPr>
            <a:r>
              <a:rPr lang="en-US" dirty="0"/>
              <a:t>Suricata rule accuracy</a:t>
            </a:r>
          </a:p>
          <a:p>
            <a:pPr marL="742950" lvl="1" indent="-285750">
              <a:buFont typeface="Arial" panose="020B0604020202020204" pitchFamily="34" charset="0"/>
              <a:buChar char="•"/>
            </a:pPr>
            <a:r>
              <a:rPr lang="en-US" dirty="0"/>
              <a:t>Correct alert generation</a:t>
            </a:r>
          </a:p>
          <a:p>
            <a:pPr>
              <a:buFont typeface="Arial" panose="020B0604020202020204" pitchFamily="34" charset="0"/>
              <a:buChar char="•"/>
            </a:pPr>
            <a:r>
              <a:rPr lang="en-US" sz="2400" dirty="0"/>
              <a:t>Consensus cannot fix </a:t>
            </a:r>
            <a:r>
              <a:rPr lang="en-US" sz="2400" b="1" dirty="0"/>
              <a:t>bad input from all detectors</a:t>
            </a:r>
            <a:endParaRPr lang="en-US" sz="2400" dirty="0"/>
          </a:p>
          <a:p>
            <a:pPr>
              <a:buNone/>
            </a:pPr>
            <a:r>
              <a:rPr lang="en-US" sz="2400" b="1" dirty="0"/>
              <a:t>Limitation 3: No reputation or weighting</a:t>
            </a:r>
            <a:endParaRPr lang="en-US" sz="2400" dirty="0"/>
          </a:p>
          <a:p>
            <a:pPr>
              <a:buFont typeface="Arial" panose="020B0604020202020204" pitchFamily="34" charset="0"/>
              <a:buChar char="•"/>
            </a:pPr>
            <a:r>
              <a:rPr lang="en-US" sz="2400" dirty="0"/>
              <a:t>All detector votes are treated equally</a:t>
            </a:r>
          </a:p>
          <a:p>
            <a:pPr>
              <a:buFont typeface="Arial" panose="020B0604020202020204" pitchFamily="34" charset="0"/>
              <a:buChar char="•"/>
            </a:pPr>
            <a:r>
              <a:rPr lang="en-US" sz="2400" dirty="0"/>
              <a:t>No historical trust score or confidence weighting applied</a:t>
            </a:r>
          </a:p>
          <a:p>
            <a:r>
              <a:rPr lang="en-US" u="sng" dirty="0"/>
              <a:t>This system is Byzantine-tolerant, not Byzantine-proof</a:t>
            </a:r>
            <a:r>
              <a:rPr lang="en-US" dirty="0"/>
              <a:t>.</a:t>
            </a:r>
          </a:p>
        </p:txBody>
      </p:sp>
    </p:spTree>
    <p:extLst>
      <p:ext uri="{BB962C8B-B14F-4D97-AF65-F5344CB8AC3E}">
        <p14:creationId xmlns:p14="http://schemas.microsoft.com/office/powerpoint/2010/main" val="330232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D028-7924-EACF-3019-B31E64743967}"/>
              </a:ext>
            </a:extLst>
          </p:cNvPr>
          <p:cNvSpPr>
            <a:spLocks noGrp="1"/>
          </p:cNvSpPr>
          <p:nvPr>
            <p:ph type="title"/>
          </p:nvPr>
        </p:nvSpPr>
        <p:spPr>
          <a:xfrm>
            <a:off x="171937" y="242277"/>
            <a:ext cx="11855939" cy="672123"/>
          </a:xfrm>
        </p:spPr>
        <p:txBody>
          <a:bodyPr>
            <a:normAutofit/>
          </a:bodyPr>
          <a:lstStyle/>
          <a:p>
            <a:r>
              <a:rPr lang="en-US" sz="4000" b="1" dirty="0"/>
              <a:t>Why Consensus-Based IDS? (Why This Design Matters)</a:t>
            </a:r>
          </a:p>
        </p:txBody>
      </p:sp>
      <p:sp>
        <p:nvSpPr>
          <p:cNvPr id="3" name="Content Placeholder 2">
            <a:extLst>
              <a:ext uri="{FF2B5EF4-FFF2-40B4-BE49-F238E27FC236}">
                <a16:creationId xmlns:a16="http://schemas.microsoft.com/office/drawing/2014/main" id="{9CFB0FAE-23C3-1850-45C4-738C9BC60023}"/>
              </a:ext>
            </a:extLst>
          </p:cNvPr>
          <p:cNvSpPr>
            <a:spLocks noGrp="1"/>
          </p:cNvSpPr>
          <p:nvPr>
            <p:ph sz="half" idx="1"/>
          </p:nvPr>
        </p:nvSpPr>
        <p:spPr>
          <a:xfrm>
            <a:off x="171937" y="1086338"/>
            <a:ext cx="5847863" cy="5603631"/>
          </a:xfrm>
        </p:spPr>
        <p:txBody>
          <a:bodyPr>
            <a:normAutofit fontScale="70000" lnSpcReduction="20000"/>
          </a:bodyPr>
          <a:lstStyle/>
          <a:p>
            <a:pPr>
              <a:buNone/>
            </a:pPr>
            <a:r>
              <a:rPr lang="en-US" sz="4000" b="1" dirty="0"/>
              <a:t>Problem with Traditional IDS</a:t>
            </a:r>
          </a:p>
          <a:p>
            <a:pPr>
              <a:buNone/>
            </a:pPr>
            <a:r>
              <a:rPr lang="en-US" sz="4000" b="1" dirty="0"/>
              <a:t>Single IDS systems assume trust</a:t>
            </a:r>
            <a:endParaRPr lang="en-US" sz="4000" dirty="0"/>
          </a:p>
          <a:p>
            <a:pPr>
              <a:buFont typeface="Arial" panose="020B0604020202020204" pitchFamily="34" charset="0"/>
              <a:buChar char="•"/>
            </a:pPr>
            <a:r>
              <a:rPr lang="en-US" sz="4000" dirty="0"/>
              <a:t>One compromised or faulty IDS:</a:t>
            </a:r>
          </a:p>
          <a:p>
            <a:pPr marL="742950" lvl="1" indent="-285750">
              <a:buFont typeface="Arial" panose="020B0604020202020204" pitchFamily="34" charset="0"/>
              <a:buChar char="•"/>
            </a:pPr>
            <a:r>
              <a:rPr lang="en-US" sz="4000" dirty="0"/>
              <a:t>Can misclassify attacks</a:t>
            </a:r>
          </a:p>
          <a:p>
            <a:pPr marL="742950" lvl="1" indent="-285750">
              <a:buFont typeface="Arial" panose="020B0604020202020204" pitchFamily="34" charset="0"/>
              <a:buChar char="•"/>
            </a:pPr>
            <a:r>
              <a:rPr lang="en-US" sz="4000" dirty="0"/>
              <a:t>Can suppress alerts</a:t>
            </a:r>
          </a:p>
          <a:p>
            <a:pPr marL="742950" lvl="1" indent="-285750">
              <a:buFont typeface="Arial" panose="020B0604020202020204" pitchFamily="34" charset="0"/>
              <a:buChar char="•"/>
            </a:pPr>
            <a:r>
              <a:rPr lang="en-US" sz="4000" dirty="0"/>
              <a:t>Can generate false positives</a:t>
            </a:r>
          </a:p>
          <a:p>
            <a:pPr>
              <a:buNone/>
            </a:pPr>
            <a:r>
              <a:rPr lang="en-US" sz="4000" b="1" dirty="0"/>
              <a:t>Real-world issues</a:t>
            </a:r>
            <a:endParaRPr lang="en-US" sz="4000" dirty="0"/>
          </a:p>
          <a:p>
            <a:pPr>
              <a:buFont typeface="Arial" panose="020B0604020202020204" pitchFamily="34" charset="0"/>
              <a:buChar char="•"/>
            </a:pPr>
            <a:r>
              <a:rPr lang="en-US" sz="4000" dirty="0"/>
              <a:t>IDS software can be:</a:t>
            </a:r>
          </a:p>
          <a:p>
            <a:pPr marL="742950" lvl="1" indent="-285750">
              <a:buFont typeface="Arial" panose="020B0604020202020204" pitchFamily="34" charset="0"/>
              <a:buChar char="•"/>
            </a:pPr>
            <a:r>
              <a:rPr lang="en-US" sz="4000" dirty="0"/>
              <a:t>Misconfigured</a:t>
            </a:r>
          </a:p>
          <a:p>
            <a:pPr marL="742950" lvl="1" indent="-285750">
              <a:buFont typeface="Arial" panose="020B0604020202020204" pitchFamily="34" charset="0"/>
              <a:buChar char="•"/>
            </a:pPr>
            <a:r>
              <a:rPr lang="en-US" sz="4000" dirty="0"/>
              <a:t>Outdated</a:t>
            </a:r>
          </a:p>
          <a:p>
            <a:pPr marL="742950" lvl="1" indent="-285750">
              <a:buFont typeface="Arial" panose="020B0604020202020204" pitchFamily="34" charset="0"/>
              <a:buChar char="•"/>
            </a:pPr>
            <a:r>
              <a:rPr lang="en-US" sz="4000" dirty="0"/>
              <a:t>Compromised internally</a:t>
            </a:r>
          </a:p>
          <a:p>
            <a:pPr>
              <a:buFont typeface="Arial" panose="020B0604020202020204" pitchFamily="34" charset="0"/>
              <a:buChar char="•"/>
            </a:pPr>
            <a:r>
              <a:rPr lang="en-US" sz="4000" dirty="0"/>
              <a:t>Security teams often </a:t>
            </a:r>
            <a:r>
              <a:rPr lang="en-US" sz="4000" b="1" dirty="0"/>
              <a:t>blindly trust alerts</a:t>
            </a:r>
            <a:endParaRPr lang="en-US" sz="4000" dirty="0"/>
          </a:p>
          <a:p>
            <a:endParaRPr lang="en-US" dirty="0"/>
          </a:p>
        </p:txBody>
      </p:sp>
      <p:sp>
        <p:nvSpPr>
          <p:cNvPr id="4" name="Content Placeholder 3">
            <a:extLst>
              <a:ext uri="{FF2B5EF4-FFF2-40B4-BE49-F238E27FC236}">
                <a16:creationId xmlns:a16="http://schemas.microsoft.com/office/drawing/2014/main" id="{25B2BD6A-2E08-A2A9-E23F-065924F27CD1}"/>
              </a:ext>
            </a:extLst>
          </p:cNvPr>
          <p:cNvSpPr>
            <a:spLocks noGrp="1"/>
          </p:cNvSpPr>
          <p:nvPr>
            <p:ph sz="half" idx="2"/>
          </p:nvPr>
        </p:nvSpPr>
        <p:spPr>
          <a:xfrm>
            <a:off x="6172200" y="1086338"/>
            <a:ext cx="5855676" cy="5603631"/>
          </a:xfrm>
        </p:spPr>
        <p:txBody>
          <a:bodyPr>
            <a:normAutofit fontScale="70000" lnSpcReduction="20000"/>
          </a:bodyPr>
          <a:lstStyle/>
          <a:p>
            <a:pPr>
              <a:buNone/>
            </a:pPr>
            <a:r>
              <a:rPr lang="en-US" b="1" dirty="0"/>
              <a:t>What Consensus Fixes</a:t>
            </a:r>
          </a:p>
          <a:p>
            <a:pPr>
              <a:buNone/>
            </a:pPr>
            <a:r>
              <a:rPr lang="en-US" b="1" dirty="0"/>
              <a:t>Consensus removes blind trust</a:t>
            </a:r>
            <a:endParaRPr lang="en-US" dirty="0"/>
          </a:p>
          <a:p>
            <a:pPr>
              <a:buFont typeface="Arial" panose="020B0604020202020204" pitchFamily="34" charset="0"/>
              <a:buChar char="•"/>
            </a:pPr>
            <a:r>
              <a:rPr lang="en-US" dirty="0"/>
              <a:t>Decisions are based on </a:t>
            </a:r>
            <a:r>
              <a:rPr lang="en-US" b="1" dirty="0"/>
              <a:t>agreement</a:t>
            </a:r>
            <a:r>
              <a:rPr lang="en-US" dirty="0"/>
              <a:t>, not authority</a:t>
            </a:r>
          </a:p>
          <a:p>
            <a:pPr>
              <a:buFont typeface="Arial" panose="020B0604020202020204" pitchFamily="34" charset="0"/>
              <a:buChar char="•"/>
            </a:pPr>
            <a:r>
              <a:rPr lang="en-US" dirty="0"/>
              <a:t>No single detector controls the outcome</a:t>
            </a:r>
          </a:p>
          <a:p>
            <a:pPr>
              <a:buNone/>
            </a:pPr>
            <a:r>
              <a:rPr lang="en-US" b="1" dirty="0"/>
              <a:t>Byzantine tolerance</a:t>
            </a:r>
            <a:endParaRPr lang="en-US" dirty="0"/>
          </a:p>
          <a:p>
            <a:pPr>
              <a:buFont typeface="Arial" panose="020B0604020202020204" pitchFamily="34" charset="0"/>
              <a:buChar char="•"/>
            </a:pPr>
            <a:r>
              <a:rPr lang="en-US" dirty="0"/>
              <a:t>Malicious or faulty detectors:</a:t>
            </a:r>
          </a:p>
          <a:p>
            <a:pPr marL="742950" lvl="1" indent="-285750">
              <a:buFont typeface="Arial" panose="020B0604020202020204" pitchFamily="34" charset="0"/>
              <a:buChar char="•"/>
            </a:pPr>
            <a:r>
              <a:rPr lang="en-US" dirty="0"/>
              <a:t>Can lie</a:t>
            </a:r>
          </a:p>
          <a:p>
            <a:pPr marL="742950" lvl="1" indent="-285750">
              <a:buFont typeface="Arial" panose="020B0604020202020204" pitchFamily="34" charset="0"/>
              <a:buChar char="•"/>
            </a:pPr>
            <a:r>
              <a:rPr lang="en-US" dirty="0"/>
              <a:t>Can misclassify</a:t>
            </a:r>
          </a:p>
          <a:p>
            <a:pPr marL="742950" lvl="1" indent="-285750">
              <a:buFont typeface="Arial" panose="020B0604020202020204" pitchFamily="34" charset="0"/>
              <a:buChar char="•"/>
            </a:pPr>
            <a:r>
              <a:rPr lang="en-US" dirty="0"/>
              <a:t>But cannot override majority truth</a:t>
            </a:r>
          </a:p>
          <a:p>
            <a:pPr>
              <a:buNone/>
            </a:pPr>
            <a:r>
              <a:rPr lang="en-US" b="1" dirty="0"/>
              <a:t>What this project demonstrates</a:t>
            </a:r>
            <a:endParaRPr lang="en-US" dirty="0"/>
          </a:p>
          <a:p>
            <a:pPr>
              <a:buFont typeface="Arial" panose="020B0604020202020204" pitchFamily="34" charset="0"/>
              <a:buChar char="•"/>
            </a:pPr>
            <a:r>
              <a:rPr lang="en-US" dirty="0"/>
              <a:t>Trust is </a:t>
            </a:r>
            <a:r>
              <a:rPr lang="en-US" b="1" dirty="0"/>
              <a:t>verified</a:t>
            </a:r>
            <a:r>
              <a:rPr lang="en-US" dirty="0"/>
              <a:t>, not assumed</a:t>
            </a:r>
          </a:p>
          <a:p>
            <a:pPr>
              <a:buFont typeface="Arial" panose="020B0604020202020204" pitchFamily="34" charset="0"/>
              <a:buChar char="•"/>
            </a:pPr>
            <a:r>
              <a:rPr lang="en-US" dirty="0"/>
              <a:t>Correct decisions emerge even under:</a:t>
            </a:r>
          </a:p>
          <a:p>
            <a:pPr marL="742950" lvl="1" indent="-285750">
              <a:buFont typeface="Arial" panose="020B0604020202020204" pitchFamily="34" charset="0"/>
              <a:buChar char="•"/>
            </a:pPr>
            <a:r>
              <a:rPr lang="en-US" dirty="0"/>
              <a:t>Deception</a:t>
            </a:r>
          </a:p>
          <a:p>
            <a:pPr marL="742950" lvl="1" indent="-285750">
              <a:buFont typeface="Arial" panose="020B0604020202020204" pitchFamily="34" charset="0"/>
              <a:buChar char="•"/>
            </a:pPr>
            <a:r>
              <a:rPr lang="en-US" dirty="0"/>
              <a:t>High traffic</a:t>
            </a:r>
          </a:p>
          <a:p>
            <a:pPr marL="742950" lvl="1" indent="-285750">
              <a:buFont typeface="Arial" panose="020B0604020202020204" pitchFamily="34" charset="0"/>
              <a:buChar char="•"/>
            </a:pPr>
            <a:r>
              <a:rPr lang="en-US" dirty="0"/>
              <a:t>Multi-vector attacks</a:t>
            </a:r>
          </a:p>
          <a:p>
            <a:pPr>
              <a:buNone/>
            </a:pPr>
            <a:r>
              <a:rPr lang="en-US" u="sng" dirty="0"/>
              <a:t>Core Idea</a:t>
            </a:r>
          </a:p>
          <a:p>
            <a:pPr>
              <a:buNone/>
            </a:pPr>
            <a:r>
              <a:rPr lang="en-US" u="sng" dirty="0"/>
              <a:t>Security decisions should be </a:t>
            </a:r>
            <a:r>
              <a:rPr lang="en-US" i="1" u="sng" dirty="0"/>
              <a:t>collective</a:t>
            </a:r>
            <a:r>
              <a:rPr lang="en-US" u="sng" dirty="0"/>
              <a:t>, not individual.</a:t>
            </a:r>
          </a:p>
        </p:txBody>
      </p:sp>
    </p:spTree>
    <p:extLst>
      <p:ext uri="{BB962C8B-B14F-4D97-AF65-F5344CB8AC3E}">
        <p14:creationId xmlns:p14="http://schemas.microsoft.com/office/powerpoint/2010/main" val="3847464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BC6E-60F6-C4E5-8C91-C8568FC2357A}"/>
              </a:ext>
            </a:extLst>
          </p:cNvPr>
          <p:cNvSpPr>
            <a:spLocks noGrp="1"/>
          </p:cNvSpPr>
          <p:nvPr>
            <p:ph type="title"/>
          </p:nvPr>
        </p:nvSpPr>
        <p:spPr>
          <a:xfrm>
            <a:off x="148492" y="265724"/>
            <a:ext cx="11910646" cy="656492"/>
          </a:xfrm>
        </p:spPr>
        <p:txBody>
          <a:bodyPr>
            <a:normAutofit fontScale="90000"/>
          </a:bodyPr>
          <a:lstStyle/>
          <a:p>
            <a:r>
              <a:rPr lang="en-US" b="1" dirty="0"/>
              <a:t>             Conclusion &amp; Future Work</a:t>
            </a:r>
          </a:p>
        </p:txBody>
      </p:sp>
      <p:sp>
        <p:nvSpPr>
          <p:cNvPr id="3" name="Content Placeholder 2">
            <a:extLst>
              <a:ext uri="{FF2B5EF4-FFF2-40B4-BE49-F238E27FC236}">
                <a16:creationId xmlns:a16="http://schemas.microsoft.com/office/drawing/2014/main" id="{70ED98C6-8876-56DF-8E4F-35D8961E3766}"/>
              </a:ext>
            </a:extLst>
          </p:cNvPr>
          <p:cNvSpPr>
            <a:spLocks noGrp="1"/>
          </p:cNvSpPr>
          <p:nvPr>
            <p:ph sz="half" idx="1"/>
          </p:nvPr>
        </p:nvSpPr>
        <p:spPr>
          <a:xfrm>
            <a:off x="148492" y="1094154"/>
            <a:ext cx="5871308" cy="5588000"/>
          </a:xfrm>
        </p:spPr>
        <p:txBody>
          <a:bodyPr>
            <a:normAutofit fontScale="25000" lnSpcReduction="20000"/>
          </a:bodyPr>
          <a:lstStyle/>
          <a:p>
            <a:pPr>
              <a:buNone/>
            </a:pPr>
            <a:r>
              <a:rPr lang="en-US" sz="4900" b="1" dirty="0"/>
              <a:t>Conclusion (What This Project Achieved)</a:t>
            </a:r>
          </a:p>
          <a:p>
            <a:pPr>
              <a:buNone/>
            </a:pPr>
            <a:r>
              <a:rPr lang="en-US" sz="4900" b="1" dirty="0"/>
              <a:t>What was built</a:t>
            </a:r>
            <a:endParaRPr lang="en-US" sz="4900" dirty="0"/>
          </a:p>
          <a:p>
            <a:pPr>
              <a:buFont typeface="Arial" panose="020B0604020202020204" pitchFamily="34" charset="0"/>
              <a:buChar char="•"/>
            </a:pPr>
            <a:r>
              <a:rPr lang="en-US" sz="4900" dirty="0"/>
              <a:t>A </a:t>
            </a:r>
            <a:r>
              <a:rPr lang="en-US" sz="4900" b="1" dirty="0"/>
              <a:t>Byzantine Fault Tolerant IDS framework</a:t>
            </a:r>
            <a:endParaRPr lang="en-US" sz="4900" dirty="0"/>
          </a:p>
          <a:p>
            <a:pPr>
              <a:buFont typeface="Arial" panose="020B0604020202020204" pitchFamily="34" charset="0"/>
              <a:buChar char="•"/>
            </a:pPr>
            <a:r>
              <a:rPr lang="en-US" sz="4900" dirty="0"/>
              <a:t>Multiple </a:t>
            </a:r>
            <a:r>
              <a:rPr lang="en-US" sz="4900" b="1" dirty="0"/>
              <a:t>independent Suricata-based detectors</a:t>
            </a:r>
            <a:endParaRPr lang="en-US" sz="4900" dirty="0"/>
          </a:p>
          <a:p>
            <a:pPr>
              <a:buFont typeface="Arial" panose="020B0604020202020204" pitchFamily="34" charset="0"/>
              <a:buChar char="•"/>
            </a:pPr>
            <a:r>
              <a:rPr lang="en-US" sz="4900" dirty="0"/>
              <a:t>A </a:t>
            </a:r>
            <a:r>
              <a:rPr lang="en-US" sz="4900" b="1" dirty="0"/>
              <a:t>consensus coordinator</a:t>
            </a:r>
            <a:r>
              <a:rPr lang="en-US" sz="4900" dirty="0"/>
              <a:t> using majority voting (2 out of 3)</a:t>
            </a:r>
          </a:p>
          <a:p>
            <a:pPr>
              <a:buNone/>
            </a:pPr>
            <a:r>
              <a:rPr lang="en-US" sz="4900" b="1" dirty="0"/>
              <a:t>What was tested</a:t>
            </a:r>
            <a:endParaRPr lang="en-US" sz="4900" dirty="0"/>
          </a:p>
          <a:p>
            <a:pPr>
              <a:buFont typeface="Arial" panose="020B0604020202020204" pitchFamily="34" charset="0"/>
              <a:buChar char="•"/>
            </a:pPr>
            <a:r>
              <a:rPr lang="en-US" sz="4900" b="1" dirty="0"/>
              <a:t>6 real-world attack scenarios</a:t>
            </a:r>
            <a:r>
              <a:rPr lang="en-US" sz="4900" dirty="0"/>
              <a:t>, including:</a:t>
            </a:r>
          </a:p>
          <a:p>
            <a:pPr marL="742950" lvl="1" indent="-285750">
              <a:buFont typeface="Arial" panose="020B0604020202020204" pitchFamily="34" charset="0"/>
              <a:buChar char="•"/>
            </a:pPr>
            <a:r>
              <a:rPr lang="en-US" sz="4900" dirty="0"/>
              <a:t>Port Scan</a:t>
            </a:r>
          </a:p>
          <a:p>
            <a:pPr marL="742950" lvl="1" indent="-285750">
              <a:buFont typeface="Arial" panose="020B0604020202020204" pitchFamily="34" charset="0"/>
              <a:buChar char="•"/>
            </a:pPr>
            <a:r>
              <a:rPr lang="en-US" sz="4900" dirty="0"/>
              <a:t>SSH Brute Force</a:t>
            </a:r>
          </a:p>
          <a:p>
            <a:pPr marL="742950" lvl="1" indent="-285750">
              <a:buFont typeface="Arial" panose="020B0604020202020204" pitchFamily="34" charset="0"/>
              <a:buChar char="•"/>
            </a:pPr>
            <a:r>
              <a:rPr lang="en-US" sz="4900" dirty="0"/>
              <a:t>Port Range Scan</a:t>
            </a:r>
          </a:p>
          <a:p>
            <a:pPr marL="742950" lvl="1" indent="-285750">
              <a:buFont typeface="Arial" panose="020B0604020202020204" pitchFamily="34" charset="0"/>
              <a:buChar char="•"/>
            </a:pPr>
            <a:r>
              <a:rPr lang="en-US" sz="4900" dirty="0"/>
              <a:t>High-frequency authentication abuse</a:t>
            </a:r>
          </a:p>
          <a:p>
            <a:pPr marL="742950" lvl="1" indent="-285750">
              <a:buFont typeface="Arial" panose="020B0604020202020204" pitchFamily="34" charset="0"/>
              <a:buChar char="•"/>
            </a:pPr>
            <a:r>
              <a:rPr lang="en-US" sz="4900" dirty="0"/>
              <a:t>SYN Flood (high-intensity stress)</a:t>
            </a:r>
          </a:p>
          <a:p>
            <a:pPr marL="742950" lvl="1" indent="-285750">
              <a:buFont typeface="Arial" panose="020B0604020202020204" pitchFamily="34" charset="0"/>
              <a:buChar char="•"/>
            </a:pPr>
            <a:r>
              <a:rPr lang="en-US" sz="4900" dirty="0"/>
              <a:t>Multi-vector overlapping attacks</a:t>
            </a:r>
          </a:p>
          <a:p>
            <a:pPr>
              <a:buNone/>
            </a:pPr>
            <a:r>
              <a:rPr lang="en-US" sz="4900" b="1" dirty="0"/>
              <a:t>What was proven</a:t>
            </a:r>
            <a:endParaRPr lang="en-US" sz="4900" dirty="0"/>
          </a:p>
          <a:p>
            <a:pPr>
              <a:buFont typeface="Arial" panose="020B0604020202020204" pitchFamily="34" charset="0"/>
              <a:buChar char="•"/>
            </a:pPr>
            <a:r>
              <a:rPr lang="en-US" sz="4900" dirty="0"/>
              <a:t>All detectors received the </a:t>
            </a:r>
            <a:r>
              <a:rPr lang="en-US" sz="4900" b="1" dirty="0"/>
              <a:t>same evidence</a:t>
            </a:r>
            <a:endParaRPr lang="en-US" sz="4900" dirty="0"/>
          </a:p>
          <a:p>
            <a:pPr>
              <a:buFont typeface="Arial" panose="020B0604020202020204" pitchFamily="34" charset="0"/>
              <a:buChar char="•"/>
            </a:pPr>
            <a:r>
              <a:rPr lang="en-US" sz="4900" dirty="0"/>
              <a:t>One detector behaved </a:t>
            </a:r>
            <a:r>
              <a:rPr lang="en-US" sz="4900" b="1" dirty="0"/>
              <a:t>maliciously (Byzantine)</a:t>
            </a:r>
            <a:endParaRPr lang="en-US" sz="4900" dirty="0"/>
          </a:p>
          <a:p>
            <a:pPr>
              <a:buFont typeface="Arial" panose="020B0604020202020204" pitchFamily="34" charset="0"/>
              <a:buChar char="•"/>
            </a:pPr>
            <a:r>
              <a:rPr lang="en-US" sz="4900" dirty="0"/>
              <a:t>Despite deception:</a:t>
            </a:r>
          </a:p>
          <a:p>
            <a:pPr marL="742950" lvl="1" indent="-285750">
              <a:buFont typeface="Arial" panose="020B0604020202020204" pitchFamily="34" charset="0"/>
              <a:buChar char="•"/>
            </a:pPr>
            <a:r>
              <a:rPr lang="en-US" sz="4900" dirty="0"/>
              <a:t>✔ Correct attack was always identified</a:t>
            </a:r>
          </a:p>
          <a:p>
            <a:pPr marL="742950" lvl="1" indent="-285750">
              <a:buFont typeface="Arial" panose="020B0604020202020204" pitchFamily="34" charset="0"/>
              <a:buChar char="•"/>
            </a:pPr>
            <a:r>
              <a:rPr lang="en-US" sz="4900" dirty="0"/>
              <a:t>✔ False labels were outvoted</a:t>
            </a:r>
          </a:p>
          <a:p>
            <a:pPr marL="742950" lvl="1" indent="-285750">
              <a:buFont typeface="Arial" panose="020B0604020202020204" pitchFamily="34" charset="0"/>
              <a:buChar char="•"/>
            </a:pPr>
            <a:r>
              <a:rPr lang="en-US" sz="4900" dirty="0"/>
              <a:t>✔ No single detector controlled the decision</a:t>
            </a:r>
          </a:p>
          <a:p>
            <a:pPr>
              <a:buNone/>
            </a:pPr>
            <a:r>
              <a:rPr lang="en-US" sz="4900" b="1" dirty="0"/>
              <a:t>Core conclusion</a:t>
            </a:r>
            <a:endParaRPr lang="en-US" sz="4900" dirty="0"/>
          </a:p>
          <a:p>
            <a:pPr>
              <a:buNone/>
            </a:pPr>
            <a:r>
              <a:rPr lang="en-US" sz="4900" dirty="0"/>
              <a:t>Intrusion detection decisions are more reliable when </a:t>
            </a:r>
            <a:r>
              <a:rPr lang="en-US" sz="4900" b="1" dirty="0"/>
              <a:t>trust is verified through consensus, not assumed</a:t>
            </a:r>
            <a:r>
              <a:rPr lang="en-US" sz="4900" dirty="0"/>
              <a:t>.</a:t>
            </a:r>
          </a:p>
          <a:p>
            <a:endParaRPr lang="en-US" sz="1600" dirty="0"/>
          </a:p>
        </p:txBody>
      </p:sp>
      <p:sp>
        <p:nvSpPr>
          <p:cNvPr id="4" name="Content Placeholder 3">
            <a:extLst>
              <a:ext uri="{FF2B5EF4-FFF2-40B4-BE49-F238E27FC236}">
                <a16:creationId xmlns:a16="http://schemas.microsoft.com/office/drawing/2014/main" id="{9B771B5F-B3D8-B02C-CEFD-7A47797E7E85}"/>
              </a:ext>
            </a:extLst>
          </p:cNvPr>
          <p:cNvSpPr>
            <a:spLocks noGrp="1"/>
          </p:cNvSpPr>
          <p:nvPr>
            <p:ph sz="half" idx="2"/>
          </p:nvPr>
        </p:nvSpPr>
        <p:spPr>
          <a:xfrm>
            <a:off x="6172200" y="1094154"/>
            <a:ext cx="5871308" cy="5763846"/>
          </a:xfrm>
        </p:spPr>
        <p:txBody>
          <a:bodyPr>
            <a:normAutofit fontScale="25000" lnSpcReduction="20000"/>
          </a:bodyPr>
          <a:lstStyle/>
          <a:p>
            <a:r>
              <a:rPr lang="en-US" sz="5600" b="1" dirty="0"/>
              <a:t>Future Work (How This Can Be Extended)</a:t>
            </a:r>
          </a:p>
          <a:p>
            <a:pPr>
              <a:buNone/>
            </a:pPr>
            <a:r>
              <a:rPr lang="en-US" sz="5600" b="1" dirty="0"/>
              <a:t>1. Scaling the consensus</a:t>
            </a:r>
            <a:endParaRPr lang="en-US" sz="5600" dirty="0"/>
          </a:p>
          <a:p>
            <a:pPr>
              <a:buFont typeface="Arial" panose="020B0604020202020204" pitchFamily="34" charset="0"/>
              <a:buChar char="•"/>
            </a:pPr>
            <a:r>
              <a:rPr lang="en-US" sz="5600" dirty="0"/>
              <a:t>Increase detector count:</a:t>
            </a:r>
          </a:p>
          <a:p>
            <a:pPr marL="742950" lvl="1" indent="-285750">
              <a:buFont typeface="Arial" panose="020B0604020202020204" pitchFamily="34" charset="0"/>
              <a:buChar char="•"/>
            </a:pPr>
            <a:r>
              <a:rPr lang="en-US" sz="5600" dirty="0"/>
              <a:t>From 3 → 5, 7, or more nodes</a:t>
            </a:r>
          </a:p>
          <a:p>
            <a:pPr>
              <a:buFont typeface="Arial" panose="020B0604020202020204" pitchFamily="34" charset="0"/>
              <a:buChar char="•"/>
            </a:pPr>
            <a:r>
              <a:rPr lang="en-US" sz="5600" dirty="0"/>
              <a:t>Tolerate </a:t>
            </a:r>
            <a:r>
              <a:rPr lang="en-US" sz="5600" b="1" dirty="0"/>
              <a:t>multiple Byzantine detectors</a:t>
            </a:r>
            <a:br>
              <a:rPr lang="en-US" sz="5600" dirty="0"/>
            </a:br>
            <a:r>
              <a:rPr lang="en-US" sz="5600" dirty="0"/>
              <a:t>(following </a:t>
            </a:r>
            <a:r>
              <a:rPr lang="en-US" sz="5600" dirty="0">
                <a:latin typeface="Courier New" panose="02070309020205020404" pitchFamily="49" charset="0"/>
              </a:rPr>
              <a:t>n ≥ 3f + 1</a:t>
            </a:r>
            <a:r>
              <a:rPr lang="en-US" sz="5600" dirty="0"/>
              <a:t>)</a:t>
            </a:r>
          </a:p>
          <a:p>
            <a:pPr>
              <a:buNone/>
            </a:pPr>
            <a:r>
              <a:rPr lang="en-US" sz="5600" b="1" dirty="0"/>
              <a:t>2. Confidence-aware voting</a:t>
            </a:r>
            <a:endParaRPr lang="en-US" sz="5600" dirty="0"/>
          </a:p>
          <a:p>
            <a:pPr>
              <a:buFont typeface="Arial" panose="020B0604020202020204" pitchFamily="34" charset="0"/>
              <a:buChar char="•"/>
            </a:pPr>
            <a:r>
              <a:rPr lang="en-US" sz="5600" dirty="0"/>
              <a:t>Weight detector votes using:</a:t>
            </a:r>
          </a:p>
          <a:p>
            <a:pPr marL="742950" lvl="1" indent="-285750">
              <a:buFont typeface="Arial" panose="020B0604020202020204" pitchFamily="34" charset="0"/>
              <a:buChar char="•"/>
            </a:pPr>
            <a:r>
              <a:rPr lang="en-US" sz="5600" dirty="0"/>
              <a:t>Historical accuracy</a:t>
            </a:r>
          </a:p>
          <a:p>
            <a:pPr marL="742950" lvl="1" indent="-285750">
              <a:buFont typeface="Arial" panose="020B0604020202020204" pitchFamily="34" charset="0"/>
              <a:buChar char="•"/>
            </a:pPr>
            <a:r>
              <a:rPr lang="en-US" sz="5600" dirty="0"/>
              <a:t>Alert confidence scores</a:t>
            </a:r>
          </a:p>
          <a:p>
            <a:pPr>
              <a:buFont typeface="Arial" panose="020B0604020202020204" pitchFamily="34" charset="0"/>
              <a:buChar char="•"/>
            </a:pPr>
            <a:r>
              <a:rPr lang="en-US" sz="5600" dirty="0"/>
              <a:t>Reduce impact of noisy detectors automatically</a:t>
            </a:r>
          </a:p>
          <a:p>
            <a:pPr>
              <a:buNone/>
            </a:pPr>
            <a:r>
              <a:rPr lang="en-US" sz="5600" b="1" dirty="0"/>
              <a:t>3. Machine-learning assisted detection</a:t>
            </a:r>
            <a:endParaRPr lang="en-US" sz="5600" dirty="0"/>
          </a:p>
          <a:p>
            <a:pPr>
              <a:buFont typeface="Arial" panose="020B0604020202020204" pitchFamily="34" charset="0"/>
              <a:buChar char="•"/>
            </a:pPr>
            <a:r>
              <a:rPr lang="en-US" sz="5600" dirty="0"/>
              <a:t>Combine rule-based IDS (Suricata) with:</a:t>
            </a:r>
          </a:p>
          <a:p>
            <a:pPr marL="742950" lvl="1" indent="-285750">
              <a:buFont typeface="Arial" panose="020B0604020202020204" pitchFamily="34" charset="0"/>
              <a:buChar char="•"/>
            </a:pPr>
            <a:r>
              <a:rPr lang="en-US" sz="5600" dirty="0"/>
              <a:t>ML-based anomaly detectors</a:t>
            </a:r>
          </a:p>
          <a:p>
            <a:pPr>
              <a:buFont typeface="Arial" panose="020B0604020202020204" pitchFamily="34" charset="0"/>
              <a:buChar char="•"/>
            </a:pPr>
            <a:r>
              <a:rPr lang="en-US" sz="5600" dirty="0"/>
              <a:t>Use consensus to merge </a:t>
            </a:r>
            <a:r>
              <a:rPr lang="en-US" sz="5600" b="1" dirty="0"/>
              <a:t>signature + behavior-based alerts</a:t>
            </a:r>
            <a:endParaRPr lang="en-US" sz="5600" dirty="0"/>
          </a:p>
          <a:p>
            <a:pPr>
              <a:buNone/>
            </a:pPr>
            <a:r>
              <a:rPr lang="en-US" sz="5600" b="1" dirty="0"/>
              <a:t>4. Real-world deployment</a:t>
            </a:r>
            <a:endParaRPr lang="en-US" sz="5600" dirty="0"/>
          </a:p>
          <a:p>
            <a:pPr>
              <a:buFont typeface="Arial" panose="020B0604020202020204" pitchFamily="34" charset="0"/>
              <a:buChar char="•"/>
            </a:pPr>
            <a:r>
              <a:rPr lang="en-US" sz="5600" dirty="0"/>
              <a:t>Deploy across:</a:t>
            </a:r>
          </a:p>
          <a:p>
            <a:pPr marL="742950" lvl="1" indent="-285750">
              <a:buFont typeface="Arial" panose="020B0604020202020204" pitchFamily="34" charset="0"/>
              <a:buChar char="•"/>
            </a:pPr>
            <a:r>
              <a:rPr lang="en-US" sz="5600" dirty="0"/>
              <a:t>Distributed cloud environments</a:t>
            </a:r>
          </a:p>
          <a:p>
            <a:pPr marL="742950" lvl="1" indent="-285750">
              <a:buFont typeface="Arial" panose="020B0604020202020204" pitchFamily="34" charset="0"/>
              <a:buChar char="•"/>
            </a:pPr>
            <a:r>
              <a:rPr lang="en-US" sz="5600" dirty="0"/>
              <a:t>Edge devices / IoT networks</a:t>
            </a:r>
          </a:p>
          <a:p>
            <a:pPr>
              <a:buFont typeface="Arial" panose="020B0604020202020204" pitchFamily="34" charset="0"/>
              <a:buChar char="•"/>
            </a:pPr>
            <a:r>
              <a:rPr lang="en-US" sz="5600" dirty="0"/>
              <a:t>Study latency, scalability, and fault recovery</a:t>
            </a:r>
          </a:p>
          <a:p>
            <a:pPr>
              <a:buNone/>
            </a:pPr>
            <a:r>
              <a:rPr lang="en-US" sz="5600" u="sng" dirty="0"/>
              <a:t>Final takeaway : This project shows that Byzantine-tolerant consensus is a practical and powerful approach for building resilient intrusion detection systems in adversarial environments.</a:t>
            </a:r>
          </a:p>
          <a:p>
            <a:endParaRPr lang="en-US" dirty="0"/>
          </a:p>
        </p:txBody>
      </p:sp>
    </p:spTree>
    <p:extLst>
      <p:ext uri="{BB962C8B-B14F-4D97-AF65-F5344CB8AC3E}">
        <p14:creationId xmlns:p14="http://schemas.microsoft.com/office/powerpoint/2010/main" val="20263403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2138</TotalTime>
  <Words>3506</Words>
  <Application>Microsoft Office PowerPoint</Application>
  <PresentationFormat>Widescreen</PresentationFormat>
  <Paragraphs>637</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Courier New</vt:lpstr>
      <vt:lpstr>Office Theme</vt:lpstr>
      <vt:lpstr>Byzantine Fault-Tolerant Intrusion Detection System</vt:lpstr>
      <vt:lpstr>What If Your Security System Lies to You? </vt:lpstr>
      <vt:lpstr>REAL-WORLD FAILURE OF TRUSTED SECURITY SYSTEMS</vt:lpstr>
      <vt:lpstr>                   RESEARCH QUESTIONS</vt:lpstr>
      <vt:lpstr>        The Byzantine Generals Problem</vt:lpstr>
      <vt:lpstr>Byzantine Theory to Intrusion Detection</vt:lpstr>
      <vt:lpstr>Why Traditional Intrusion Detection Systems Fail</vt:lpstr>
      <vt:lpstr>                           BFT-IDS Model</vt:lpstr>
      <vt:lpstr>SYSTEM ARCHITECTURE OVERVIEW</vt:lpstr>
      <vt:lpstr>Attack to Consensus: End-to-End Detection Workflow</vt:lpstr>
      <vt:lpstr>Honest Detector vs Byzantine Detector Behavior</vt:lpstr>
      <vt:lpstr>How the System(Consensus) Decides What is True</vt:lpstr>
      <vt:lpstr>Attack 1 Port Scan Attack &amp; Detection Evidence</vt:lpstr>
      <vt:lpstr> Attack-1 Byzantine Behavior &amp; Consensus Outcome</vt:lpstr>
      <vt:lpstr> Attack-1 Summary Port Scan Under Byzantine Conditions</vt:lpstr>
      <vt:lpstr>Attack-2: SSH Brute Force Attack &amp; Detection Evidence</vt:lpstr>
      <vt:lpstr>Attack-2: Byzantine Behavior &amp; Consensus Reasoning</vt:lpstr>
      <vt:lpstr>    Attack-3: Port Range Scan &amp; Detection Evidence</vt:lpstr>
      <vt:lpstr>Attack-3: Byzantine Behavior &amp; Consensus Outcome</vt:lpstr>
      <vt:lpstr>Attack-4: SSH Brute Force Attack &amp; Detection Evidence</vt:lpstr>
      <vt:lpstr>Attack-4: Byzantine Behavior &amp; Consensus Outcome</vt:lpstr>
      <vt:lpstr>    Attack-5: SYN Flood (High-Intensity Stress Test)</vt:lpstr>
      <vt:lpstr>Attack-5: Byzantine Behavior &amp; Consensus Outcome</vt:lpstr>
      <vt:lpstr>Attack-6: Multi-Vector Attack &amp; Detection Evidence</vt:lpstr>
      <vt:lpstr>Attack-6: Byzantine Behavior &amp; Consensus Outcome</vt:lpstr>
      <vt:lpstr>Cross-Attack Observations &amp; System Behavior</vt:lpstr>
      <vt:lpstr>          System Limitations &amp; Assumptions </vt:lpstr>
      <vt:lpstr>Why Consensus-Based IDS? (Why This Design Matters)</vt:lpstr>
      <vt:lpstr>             Conclusion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Amogh N</dc:creator>
  <cp:lastModifiedBy>Amogh N</cp:lastModifiedBy>
  <cp:revision>36</cp:revision>
  <dcterms:created xsi:type="dcterms:W3CDTF">2025-12-12T21:33:18Z</dcterms:created>
  <dcterms:modified xsi:type="dcterms:W3CDTF">2025-12-15T07:05:39Z</dcterms:modified>
</cp:coreProperties>
</file>